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228746-EEF5-671E-DE52-A878F73942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EB29B-29A7-C5B6-7C03-8F278FBD1F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13AD0A-A7DC-DEB3-0209-5025D5C42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3B8AC3-8359-7064-CB5D-02D1DCE15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7C0606-FD9A-1FCA-FCB9-910C9CD10D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231F01-EFA8-AF50-FCAA-1D00F83FA7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2BBA12-8CBD-B1BB-9EC5-448497F5CF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FA27B2-7E2E-0C00-84A8-3292CA62E7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22DE6E-7922-3DFC-6505-48722F1CD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AF51F5-8B19-D5B4-904F-90B797414F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88310C-C232-1C61-6504-B3DBFA2533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64DB2B-C192-56FD-0BCD-5191B585A3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0BDC94-DF83-ADF8-B2EE-5D970C2BBE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F5E117-57C7-E05D-9022-AFA5F5F716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F37F3B-74D4-1982-AE0E-BB674F866A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1E3E7D-2CEC-CB61-0B71-06324CE9E9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A3771D-8754-36C4-E0C6-3F94CA1B32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8738E0-8350-FF1F-14DD-1D8F3754F0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E81F7E-2B3A-EA13-E14B-25DC87611C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BC7F4C-B34C-A7DD-F409-35E1A2870A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070694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5590628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075927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824280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20045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1504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495630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488251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349015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7342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346205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17127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29621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109467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23458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0436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37849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5407744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8225400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6120112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99401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9080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69159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33871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4854438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9426785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4038746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3036050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547534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9331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626749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8001827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546499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16270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197095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489451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447841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59634086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329564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2555169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0363335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679213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865896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64497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9863513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0095138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0463480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819324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7463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4038560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25132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806437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17079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31120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4053182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765948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149288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20830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38596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501759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304564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9664849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9127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4137215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0376937" name="Oval 2"/>
          <p:cNvSpPr/>
          <p:nvPr/>
        </p:nvSpPr>
        <p:spPr bwMode="auto">
          <a:xfrm>
            <a:off x="9509760" y="-1920240"/>
            <a:ext cx="5120640" cy="5120640"/>
          </a:xfrm>
          <a:prstGeom prst="ellipse">
            <a:avLst/>
          </a:prstGeom>
          <a:solidFill>
            <a:srgbClr val="6C4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4465490" name="Oval 3"/>
          <p:cNvSpPr/>
          <p:nvPr/>
        </p:nvSpPr>
        <p:spPr bwMode="auto">
          <a:xfrm>
            <a:off x="10698480" y="3611880"/>
            <a:ext cx="1737360" cy="17373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2604392" name="Oval 4"/>
          <p:cNvSpPr/>
          <p:nvPr/>
        </p:nvSpPr>
        <p:spPr bwMode="auto">
          <a:xfrm>
            <a:off x="-2011680" y="5760720"/>
            <a:ext cx="4023360" cy="4023360"/>
          </a:xfrm>
          <a:prstGeom prst="ellipse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6882647" name="TextBox 5"/>
          <p:cNvSpPr txBox="1"/>
          <p:nvPr/>
        </p:nvSpPr>
        <p:spPr bwMode="auto">
          <a:xfrm>
            <a:off x="1005840" y="155448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/>
            </a:pPr>
            <a:r>
              <a:rPr sz="6000" b="1" i="0">
                <a:solidFill>
                  <a:srgbClr val="2A2230"/>
                </a:solidFill>
                <a:latin typeface="Calibri"/>
              </a:rPr>
              <a:t>Kortex</a:t>
            </a:r>
            <a:endParaRPr/>
          </a:p>
        </p:txBody>
      </p:sp>
      <p:sp>
        <p:nvSpPr>
          <p:cNvPr id="2123350550" name="Rectangle 6"/>
          <p:cNvSpPr/>
          <p:nvPr/>
        </p:nvSpPr>
        <p:spPr bwMode="auto">
          <a:xfrm>
            <a:off x="1024128" y="2724911"/>
            <a:ext cx="685800" cy="82296"/>
          </a:xfrm>
          <a:prstGeom prst="rect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1868156" name="TextBox 7"/>
          <p:cNvSpPr txBox="1"/>
          <p:nvPr/>
        </p:nvSpPr>
        <p:spPr bwMode="auto">
          <a:xfrm>
            <a:off x="1051560" y="3246120"/>
            <a:ext cx="7863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/>
            </a:pPr>
            <a:r>
              <a:rPr sz="2400" b="1" i="0">
                <a:solidFill>
                  <a:srgbClr val="6C4BD1"/>
                </a:solidFill>
                <a:latin typeface="Calibri"/>
              </a:rPr>
              <a:t>Nube segura de documentación</a:t>
            </a: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/>
            </a:pPr>
            <a:r>
              <a:rPr sz="1500" b="0" i="0">
                <a:solidFill>
                  <a:srgbClr val="2A2230"/>
                </a:solidFill>
                <a:latin typeface="Calibri"/>
              </a:rPr>
              <a:t>Wiki + ofimática + almacén seguro con permisos centralizados, CLI y MCP propios</a:t>
            </a: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/>
            </a:pPr>
            <a:r>
              <a:rPr sz="1300" b="0" i="0">
                <a:solidFill>
                  <a:srgbClr val="7A6E80"/>
                </a:solidFill>
                <a:latin typeface="Calibri"/>
              </a:rPr>
              <a:t>Actividad 2 — Ingeniería del software (Tema 2)  ·  Entornos de Desarrollo</a:t>
            </a: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/>
            </a:pPr>
            <a:r>
              <a:rPr sz="1400" b="1" i="0">
                <a:solidFill>
                  <a:srgbClr val="2A2230"/>
                </a:solidFill>
                <a:latin typeface="Calibri"/>
              </a:rPr>
              <a:t>David Cabrera González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8847435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1546755" name="Oval 2"/>
          <p:cNvSpPr/>
          <p:nvPr/>
        </p:nvSpPr>
        <p:spPr bwMode="auto">
          <a:xfrm>
            <a:off x="11155680" y="-1097280"/>
            <a:ext cx="2926080" cy="2926080"/>
          </a:xfrm>
          <a:prstGeom prst="ellipse">
            <a:avLst/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5204098" name="Oval 3"/>
          <p:cNvSpPr/>
          <p:nvPr/>
        </p:nvSpPr>
        <p:spPr bwMode="auto">
          <a:xfrm>
            <a:off x="-1005840" y="5760720"/>
            <a:ext cx="2377440" cy="2377440"/>
          </a:xfrm>
          <a:prstGeom prst="ellipse">
            <a:avLst/>
          </a:prstGeom>
          <a:solidFill>
            <a:srgbClr val="FB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8207139" name="Rectangle 4"/>
          <p:cNvSpPr/>
          <p:nvPr/>
        </p:nvSpPr>
        <p:spPr bwMode="auto">
          <a:xfrm>
            <a:off x="822960" y="932688"/>
            <a:ext cx="457200" cy="82296"/>
          </a:xfrm>
          <a:prstGeom prst="rect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5699860" name="TextBox 5"/>
          <p:cNvSpPr txBox="1"/>
          <p:nvPr/>
        </p:nvSpPr>
        <p:spPr bwMode="auto">
          <a:xfrm>
            <a:off x="822960" y="38404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/>
            </a:pPr>
            <a:r>
              <a:rPr sz="2500" b="1" i="0">
                <a:solidFill>
                  <a:srgbClr val="2A2230"/>
                </a:solidFill>
                <a:latin typeface="Calibri"/>
              </a:rPr>
              <a:t>Índice</a:t>
            </a:r>
            <a:endParaRPr/>
          </a:p>
        </p:txBody>
      </p:sp>
      <p:sp>
        <p:nvSpPr>
          <p:cNvPr id="1036174927" name="TextBox 6"/>
          <p:cNvSpPr txBox="1"/>
          <p:nvPr/>
        </p:nvSpPr>
        <p:spPr bwMode="auto">
          <a:xfrm>
            <a:off x="10607040" y="4114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/>
            </a:pPr>
            <a:r>
              <a:rPr sz="1800" b="1" i="0">
                <a:solidFill>
                  <a:srgbClr val="6C4BD1"/>
                </a:solidFill>
                <a:latin typeface="Calibri"/>
              </a:rPr>
              <a:t>01</a:t>
            </a:r>
            <a:endParaRPr/>
          </a:p>
        </p:txBody>
      </p:sp>
      <p:sp>
        <p:nvSpPr>
          <p:cNvPr id="1627417477" name="TextBox 7"/>
          <p:cNvSpPr txBox="1"/>
          <p:nvPr/>
        </p:nvSpPr>
        <p:spPr bwMode="auto"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defRPr/>
            </a:pPr>
            <a:r>
              <a:rPr sz="1900" b="0" i="0">
                <a:solidFill>
                  <a:srgbClr val="2A2230"/>
                </a:solidFill>
                <a:latin typeface="Calibri"/>
              </a:rPr>
              <a:t>✦  1.  Idea: qué es Kortex y qué problema resuelve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defRPr/>
            </a:pPr>
            <a:r>
              <a:rPr sz="1900" b="0" i="0">
                <a:solidFill>
                  <a:srgbClr val="2A2230"/>
                </a:solidFill>
                <a:latin typeface="Calibri"/>
              </a:rPr>
              <a:t>✦  2.  Justificación con conceptos del Tema 2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defRPr/>
            </a:pPr>
            <a:r>
              <a:rPr sz="1900" b="0" i="0">
                <a:solidFill>
                  <a:srgbClr val="2A2230"/>
                </a:solidFill>
                <a:latin typeface="Calibri"/>
              </a:rPr>
              <a:t>✦  3.  Documentación inicial: descripción, objetivos, roles y plataformas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defRPr/>
            </a:pPr>
            <a:r>
              <a:rPr sz="1900" b="0" i="0">
                <a:solidFill>
                  <a:srgbClr val="2A2230"/>
                </a:solidFill>
                <a:latin typeface="Calibri"/>
              </a:rPr>
              <a:t>✦  4.  Modelo de desarrollo: Scrum + espiral y roadmap de sprints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defRPr/>
            </a:pPr>
            <a:r>
              <a:rPr sz="1900" b="0" i="0">
                <a:solidFill>
                  <a:srgbClr val="2A2230"/>
                </a:solidFill>
                <a:latin typeface="Calibri"/>
              </a:rPr>
              <a:t>✦  5.  Requisitos funcionales y no funcionales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defRPr/>
            </a:pPr>
            <a:r>
              <a:rPr sz="1900" b="0" i="0">
                <a:solidFill>
                  <a:srgbClr val="2A2230"/>
                </a:solidFill>
                <a:latin typeface="Calibri"/>
              </a:rPr>
              <a:t>✦  6.  Claves: seguridad centralizada, carpeta-Nido y Fast Access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defRPr/>
            </a:pPr>
            <a:r>
              <a:rPr sz="1900" b="0" i="0">
                <a:solidFill>
                  <a:srgbClr val="2A2230"/>
                </a:solidFill>
                <a:latin typeface="Calibri"/>
              </a:rPr>
              <a:t>✦  7.  Fases aplicadas, casos de uso y conclusión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4093949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4571876" name="Oval 2"/>
          <p:cNvSpPr/>
          <p:nvPr/>
        </p:nvSpPr>
        <p:spPr bwMode="auto">
          <a:xfrm>
            <a:off x="11155680" y="-1097280"/>
            <a:ext cx="2926080" cy="2926080"/>
          </a:xfrm>
          <a:prstGeom prst="ellipse">
            <a:avLst/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5065201" name="Oval 3"/>
          <p:cNvSpPr/>
          <p:nvPr/>
        </p:nvSpPr>
        <p:spPr bwMode="auto">
          <a:xfrm>
            <a:off x="-1005840" y="5760720"/>
            <a:ext cx="2377440" cy="2377440"/>
          </a:xfrm>
          <a:prstGeom prst="ellipse">
            <a:avLst/>
          </a:prstGeom>
          <a:solidFill>
            <a:srgbClr val="FB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5351725" name="Rectangle 4"/>
          <p:cNvSpPr/>
          <p:nvPr/>
        </p:nvSpPr>
        <p:spPr bwMode="auto">
          <a:xfrm>
            <a:off x="822960" y="932688"/>
            <a:ext cx="457200" cy="82296"/>
          </a:xfrm>
          <a:prstGeom prst="rect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3093450" name="TextBox 5"/>
          <p:cNvSpPr txBox="1"/>
          <p:nvPr/>
        </p:nvSpPr>
        <p:spPr bwMode="auto">
          <a:xfrm>
            <a:off x="822960" y="38404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/>
            </a:pPr>
            <a:r>
              <a:rPr sz="2500" b="1" i="0">
                <a:solidFill>
                  <a:srgbClr val="2A2230"/>
                </a:solidFill>
                <a:latin typeface="Calibri"/>
              </a:rPr>
              <a:t>¿Qué es Kortex?</a:t>
            </a:r>
            <a:endParaRPr/>
          </a:p>
        </p:txBody>
      </p:sp>
      <p:sp>
        <p:nvSpPr>
          <p:cNvPr id="783957815" name="TextBox 6"/>
          <p:cNvSpPr txBox="1"/>
          <p:nvPr/>
        </p:nvSpPr>
        <p:spPr bwMode="auto">
          <a:xfrm>
            <a:off x="10607040" y="4114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/>
            </a:pPr>
            <a:r>
              <a:rPr sz="1800" b="1" i="0">
                <a:solidFill>
                  <a:srgbClr val="6C4BD1"/>
                </a:solidFill>
                <a:latin typeface="Calibri"/>
              </a:rPr>
              <a:t>02</a:t>
            </a:r>
            <a:endParaRPr/>
          </a:p>
        </p:txBody>
      </p:sp>
      <p:sp>
        <p:nvSpPr>
          <p:cNvPr id="1970438363" name="TextBox 7"/>
          <p:cNvSpPr txBox="1"/>
          <p:nvPr/>
        </p:nvSpPr>
        <p:spPr bwMode="auto"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/>
            </a:pPr>
            <a:r>
              <a:rPr sz="1650" b="0" i="0">
                <a:solidFill>
                  <a:srgbClr val="2A2230"/>
                </a:solidFill>
                <a:latin typeface="Calibri"/>
              </a:rPr>
              <a:t>✦  Plataforma todo-en-uno que unifica tres cosas que hoy van por separado: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/>
            </a:pPr>
            <a:r>
              <a:rPr sz="1350" b="0" i="0">
                <a:solidFill>
                  <a:srgbClr val="7A6E80"/>
                </a:solidFill>
                <a:latin typeface="Calibri"/>
              </a:rPr>
              <a:t>      –  Wiki colaborativa (tipo Outline)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/>
            </a:pPr>
            <a:r>
              <a:rPr sz="1350" b="0" i="0">
                <a:solidFill>
                  <a:srgbClr val="7A6E80"/>
                </a:solidFill>
                <a:latin typeface="Calibri"/>
              </a:rPr>
              <a:t>      –  Suite ofimática completa: texto, cálculo, presentaciones y PDF (tipo ONLYOFFICE)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defRPr/>
            </a:pPr>
            <a:r>
              <a:rPr sz="1350" b="0" i="0">
                <a:solidFill>
                  <a:srgbClr val="7A6E80"/>
                </a:solidFill>
                <a:latin typeface="Calibri"/>
              </a:rPr>
              <a:t>      –  Almacén de archivos seguro con usuarios y permisos centralizados (tipo Samba)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/>
            </a:pPr>
            <a:r>
              <a:rPr sz="1650" b="0" i="0">
                <a:solidFill>
                  <a:srgbClr val="2A2230"/>
                </a:solidFill>
                <a:latin typeface="Calibri"/>
              </a:rPr>
              <a:t>✦  Toda la funcionalidad se expone por la web, por una CLI propia (kortex) y por un servidor MCP para IA.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/>
            </a:pPr>
            <a:r>
              <a:rPr sz="1650" b="0" i="0">
                <a:solidFill>
                  <a:srgbClr val="2A2230"/>
                </a:solidFill>
                <a:latin typeface="Calibri"/>
              </a:rPr>
              <a:t>✦  Orientada a empresas, con uso no comercial gratuito (estudiantes, ONG, proyectos personales).</a:t>
            </a:r>
            <a:endParaRPr/>
          </a:p>
        </p:txBody>
      </p:sp>
      <p:sp>
        <p:nvSpPr>
          <p:cNvPr id="515139200" name="Rounded Rectangle 8"/>
          <p:cNvSpPr/>
          <p:nvPr/>
        </p:nvSpPr>
        <p:spPr bwMode="auto">
          <a:xfrm>
            <a:off x="822960" y="5623560"/>
            <a:ext cx="10515600" cy="731520"/>
          </a:xfrm>
          <a:prstGeom prst="roundRect">
            <a:avLst>
              <a:gd name="adj" fmla="val 16000"/>
            </a:avLst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845580" name="TextBox 9"/>
          <p:cNvSpPr txBox="1"/>
          <p:nvPr/>
        </p:nvSpPr>
        <p:spPr bwMode="auto">
          <a:xfrm>
            <a:off x="1051560" y="573328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/>
            </a:pPr>
            <a:r>
              <a:rPr sz="1400" b="0" i="1">
                <a:solidFill>
                  <a:srgbClr val="6C4BD1"/>
                </a:solidFill>
                <a:latin typeface="Calibri"/>
              </a:rPr>
              <a:t>La unidad no es una página: es una carpeta real; dentro conviven archivos y una wiki.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1085001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055296" name="Oval 2"/>
          <p:cNvSpPr/>
          <p:nvPr/>
        </p:nvSpPr>
        <p:spPr bwMode="auto">
          <a:xfrm>
            <a:off x="11155680" y="-1097280"/>
            <a:ext cx="2926080" cy="2926080"/>
          </a:xfrm>
          <a:prstGeom prst="ellipse">
            <a:avLst/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8407588" name="Oval 3"/>
          <p:cNvSpPr/>
          <p:nvPr/>
        </p:nvSpPr>
        <p:spPr bwMode="auto">
          <a:xfrm>
            <a:off x="-1005840" y="5760720"/>
            <a:ext cx="2377440" cy="2377440"/>
          </a:xfrm>
          <a:prstGeom prst="ellipse">
            <a:avLst/>
          </a:prstGeom>
          <a:solidFill>
            <a:srgbClr val="FB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3755870" name="Rectangle 4"/>
          <p:cNvSpPr/>
          <p:nvPr/>
        </p:nvSpPr>
        <p:spPr bwMode="auto">
          <a:xfrm>
            <a:off x="822960" y="932688"/>
            <a:ext cx="457200" cy="82296"/>
          </a:xfrm>
          <a:prstGeom prst="rect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2915355" name="TextBox 5"/>
          <p:cNvSpPr txBox="1"/>
          <p:nvPr/>
        </p:nvSpPr>
        <p:spPr bwMode="auto">
          <a:xfrm>
            <a:off x="822960" y="38404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/>
            </a:pPr>
            <a:r>
              <a:rPr sz="2500" b="1" i="0">
                <a:solidFill>
                  <a:srgbClr val="2A2230"/>
                </a:solidFill>
                <a:latin typeface="Calibri"/>
              </a:rPr>
              <a:t>El problema que resuelve</a:t>
            </a:r>
            <a:endParaRPr/>
          </a:p>
        </p:txBody>
      </p:sp>
      <p:sp>
        <p:nvSpPr>
          <p:cNvPr id="607675232" name="TextBox 6"/>
          <p:cNvSpPr txBox="1"/>
          <p:nvPr/>
        </p:nvSpPr>
        <p:spPr bwMode="auto">
          <a:xfrm>
            <a:off x="10607040" y="4114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/>
            </a:pPr>
            <a:r>
              <a:rPr sz="1800" b="1" i="0">
                <a:solidFill>
                  <a:srgbClr val="6C4BD1"/>
                </a:solidFill>
                <a:latin typeface="Calibri"/>
              </a:rPr>
              <a:t>03</a:t>
            </a:r>
            <a:endParaRPr/>
          </a:p>
        </p:txBody>
      </p:sp>
      <p:sp>
        <p:nvSpPr>
          <p:cNvPr id="1232078202" name="TextBox 7"/>
          <p:cNvSpPr txBox="1"/>
          <p:nvPr/>
        </p:nvSpPr>
        <p:spPr bwMode="auto"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defRPr/>
            </a:pPr>
            <a:r>
              <a:rPr sz="1700" b="0" i="0">
                <a:solidFill>
                  <a:srgbClr val="2A2230"/>
                </a:solidFill>
                <a:latin typeface="Calibri"/>
              </a:rPr>
              <a:t>✦  Fragmentación: el conocimiento vive en la wiki, los documentos en la ofimática y los archivos en el almacenamiento.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defRPr/>
            </a:pPr>
            <a:r>
              <a:rPr sz="1700" b="0" i="0">
                <a:solidFill>
                  <a:srgbClr val="2A2230"/>
                </a:solidFill>
                <a:latin typeface="Calibri"/>
              </a:rPr>
              <a:t>✦  Se repiten tareas manuales: actas, informes y plantillas hechos a mano.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defRPr/>
            </a:pPr>
            <a:r>
              <a:rPr sz="1700" b="0" i="0">
                <a:solidFill>
                  <a:srgbClr val="2A2230"/>
                </a:solidFill>
                <a:latin typeface="Calibri"/>
              </a:rPr>
              <a:t>✦  Los agentes de IA no tienen una vía estándar para leer o escribir documentación.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defRPr/>
            </a:pPr>
            <a:r>
              <a:rPr sz="1700" b="0" i="0">
                <a:solidFill>
                  <a:srgbClr val="2A2230"/>
                </a:solidFill>
                <a:latin typeface="Calibri"/>
              </a:rPr>
              <a:t>✦  Todo debe ser trazable y buscable para poder mantenerlo con los años.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defRPr/>
            </a:pPr>
            <a:r>
              <a:rPr sz="1700" b="0" i="0">
                <a:solidFill>
                  <a:srgbClr val="2A2230"/>
                </a:solidFill>
                <a:latin typeface="Calibri"/>
              </a:rPr>
              <a:t>✦  Se pierde conocimiento cuando alguien deja la empresa.</a:t>
            </a:r>
            <a:endParaRPr/>
          </a:p>
        </p:txBody>
      </p:sp>
      <p:sp>
        <p:nvSpPr>
          <p:cNvPr id="1407782759" name="Rounded Rectangle 8"/>
          <p:cNvSpPr/>
          <p:nvPr/>
        </p:nvSpPr>
        <p:spPr bwMode="auto">
          <a:xfrm>
            <a:off x="822960" y="5623560"/>
            <a:ext cx="10515600" cy="731520"/>
          </a:xfrm>
          <a:prstGeom prst="roundRect">
            <a:avLst>
              <a:gd name="adj" fmla="val 16000"/>
            </a:avLst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675395" name="TextBox 9"/>
          <p:cNvSpPr txBox="1"/>
          <p:nvPr/>
        </p:nvSpPr>
        <p:spPr bwMode="auto">
          <a:xfrm>
            <a:off x="1051560" y="573328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/>
            </a:pPr>
            <a:r>
              <a:rPr sz="1400" b="1" i="1">
                <a:solidFill>
                  <a:srgbClr val="6C4BD1"/>
                </a:solidFill>
                <a:latin typeface="Calibri"/>
              </a:rPr>
              <a:t>Solución: una sola carpeta y una sola identidad para todo el conocimiento del proyecto.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90467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6769964" name="Oval 2"/>
          <p:cNvSpPr/>
          <p:nvPr/>
        </p:nvSpPr>
        <p:spPr bwMode="auto">
          <a:xfrm>
            <a:off x="11155680" y="-1097280"/>
            <a:ext cx="2926080" cy="2926080"/>
          </a:xfrm>
          <a:prstGeom prst="ellipse">
            <a:avLst/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165305" name="Oval 3"/>
          <p:cNvSpPr/>
          <p:nvPr/>
        </p:nvSpPr>
        <p:spPr bwMode="auto">
          <a:xfrm>
            <a:off x="-1005840" y="5760720"/>
            <a:ext cx="2377440" cy="2377440"/>
          </a:xfrm>
          <a:prstGeom prst="ellipse">
            <a:avLst/>
          </a:prstGeom>
          <a:solidFill>
            <a:srgbClr val="FB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292669" name="Rectangle 4"/>
          <p:cNvSpPr/>
          <p:nvPr/>
        </p:nvSpPr>
        <p:spPr bwMode="auto">
          <a:xfrm>
            <a:off x="822960" y="932688"/>
            <a:ext cx="457200" cy="82296"/>
          </a:xfrm>
          <a:prstGeom prst="rect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3471236" name="TextBox 5"/>
          <p:cNvSpPr txBox="1"/>
          <p:nvPr/>
        </p:nvSpPr>
        <p:spPr bwMode="auto">
          <a:xfrm>
            <a:off x="822960" y="38404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/>
            </a:pPr>
            <a:r>
              <a:rPr sz="2500" b="1" i="0">
                <a:solidFill>
                  <a:srgbClr val="2A2230"/>
                </a:solidFill>
                <a:latin typeface="Calibri"/>
              </a:rPr>
              <a:t>Justificación (conceptos del Tema 2)</a:t>
            </a:r>
            <a:endParaRPr/>
          </a:p>
        </p:txBody>
      </p:sp>
      <p:sp>
        <p:nvSpPr>
          <p:cNvPr id="459473780" name="TextBox 6"/>
          <p:cNvSpPr txBox="1"/>
          <p:nvPr/>
        </p:nvSpPr>
        <p:spPr bwMode="auto">
          <a:xfrm>
            <a:off x="10607040" y="4114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/>
            </a:pPr>
            <a:r>
              <a:rPr sz="1800" b="1" i="0">
                <a:solidFill>
                  <a:srgbClr val="6C4BD1"/>
                </a:solidFill>
                <a:latin typeface="Calibri"/>
              </a:rPr>
              <a:t>04</a:t>
            </a:r>
            <a:endParaRPr/>
          </a:p>
        </p:txBody>
      </p:sp>
      <p:sp>
        <p:nvSpPr>
          <p:cNvPr id="1432007780" name="Rounded Rectangle 7"/>
          <p:cNvSpPr/>
          <p:nvPr/>
        </p:nvSpPr>
        <p:spPr bwMode="auto">
          <a:xfrm>
            <a:off x="822960" y="1508759"/>
            <a:ext cx="5120640" cy="21214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0555836" name="Oval 8"/>
          <p:cNvSpPr/>
          <p:nvPr/>
        </p:nvSpPr>
        <p:spPr bwMode="auto">
          <a:xfrm>
            <a:off x="1024128" y="1673351"/>
            <a:ext cx="146304" cy="146304"/>
          </a:xfrm>
          <a:prstGeom prst="ellipse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766432" name="TextBox 9"/>
          <p:cNvSpPr txBox="1"/>
          <p:nvPr/>
        </p:nvSpPr>
        <p:spPr bwMode="auto">
          <a:xfrm>
            <a:off x="1051560" y="1892807"/>
            <a:ext cx="4663440" cy="1572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/>
            </a:pPr>
            <a:r>
              <a:rPr sz="1550" b="1" i="0">
                <a:solidFill>
                  <a:srgbClr val="2A2230"/>
                </a:solidFill>
                <a:latin typeface="Calibri"/>
              </a:rPr>
              <a:t>1 · Ingeniería del software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El tema: el software es "más que código" y documentar es imprescindible para mantenerlo.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Kortex da soporte a la documentación y al mantenimiento.</a:t>
            </a:r>
            <a:endParaRPr/>
          </a:p>
        </p:txBody>
      </p:sp>
      <p:sp>
        <p:nvSpPr>
          <p:cNvPr id="438598929" name="Rounded Rectangle 10"/>
          <p:cNvSpPr/>
          <p:nvPr/>
        </p:nvSpPr>
        <p:spPr bwMode="auto">
          <a:xfrm>
            <a:off x="6217920" y="1508759"/>
            <a:ext cx="5120640" cy="21214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4189185" name="Oval 11"/>
          <p:cNvSpPr/>
          <p:nvPr/>
        </p:nvSpPr>
        <p:spPr bwMode="auto">
          <a:xfrm>
            <a:off x="6419088" y="1673351"/>
            <a:ext cx="146304" cy="14630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9597194" name="TextBox 12"/>
          <p:cNvSpPr txBox="1"/>
          <p:nvPr/>
        </p:nvSpPr>
        <p:spPr bwMode="auto">
          <a:xfrm>
            <a:off x="6446520" y="1892807"/>
            <a:ext cx="4663440" cy="1572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/>
            </a:pPr>
            <a:r>
              <a:rPr sz="1550" b="1" i="0">
                <a:solidFill>
                  <a:srgbClr val="2A2230"/>
                </a:solidFill>
                <a:latin typeface="Calibri"/>
              </a:rPr>
              <a:t>2 · Fases del ciclo de vida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Requisitos → análisis → diseño → implementación → pruebas → documentación → explotación → mantenimiento.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El proyecto se planifica con estas fases.</a:t>
            </a:r>
            <a:endParaRPr/>
          </a:p>
        </p:txBody>
      </p:sp>
      <p:sp>
        <p:nvSpPr>
          <p:cNvPr id="1134467892" name="Rounded Rectangle 13"/>
          <p:cNvSpPr/>
          <p:nvPr/>
        </p:nvSpPr>
        <p:spPr bwMode="auto">
          <a:xfrm>
            <a:off x="822960" y="3904487"/>
            <a:ext cx="5120640" cy="21214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2174472" name="Oval 14"/>
          <p:cNvSpPr/>
          <p:nvPr/>
        </p:nvSpPr>
        <p:spPr bwMode="auto">
          <a:xfrm>
            <a:off x="1024128" y="4069079"/>
            <a:ext cx="146304" cy="146304"/>
          </a:xfrm>
          <a:prstGeom prst="ellipse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2931033" name="TextBox 15"/>
          <p:cNvSpPr txBox="1"/>
          <p:nvPr/>
        </p:nvSpPr>
        <p:spPr bwMode="auto">
          <a:xfrm>
            <a:off x="1051560" y="4288536"/>
            <a:ext cx="4663440" cy="1572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/>
            </a:pPr>
            <a:r>
              <a:rPr sz="1550" b="1" i="0">
                <a:solidFill>
                  <a:srgbClr val="2A2230"/>
                </a:solidFill>
                <a:latin typeface="Calibri"/>
              </a:rPr>
              <a:t>3 · Metodologías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Se descarta cascada y se propone Scrum (ágil) con un ciclo en espiral de validación.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Caso práctico 2: adelantarse al competidor con sprints.</a:t>
            </a:r>
            <a:endParaRPr/>
          </a:p>
        </p:txBody>
      </p:sp>
      <p:sp>
        <p:nvSpPr>
          <p:cNvPr id="883652721" name="Rounded Rectangle 16"/>
          <p:cNvSpPr/>
          <p:nvPr/>
        </p:nvSpPr>
        <p:spPr bwMode="auto">
          <a:xfrm>
            <a:off x="6217920" y="3904487"/>
            <a:ext cx="5120640" cy="21214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4383991" name="Oval 17"/>
          <p:cNvSpPr/>
          <p:nvPr/>
        </p:nvSpPr>
        <p:spPr bwMode="auto">
          <a:xfrm>
            <a:off x="6419088" y="4069079"/>
            <a:ext cx="146304" cy="14630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4241094" name="TextBox 18"/>
          <p:cNvSpPr txBox="1"/>
          <p:nvPr/>
        </p:nvSpPr>
        <p:spPr bwMode="auto">
          <a:xfrm>
            <a:off x="6446520" y="4288536"/>
            <a:ext cx="4663440" cy="1572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/>
            </a:pPr>
            <a:r>
              <a:rPr sz="1550" b="1" i="0">
                <a:solidFill>
                  <a:srgbClr val="2A2230"/>
                </a:solidFill>
                <a:latin typeface="Calibri"/>
              </a:rPr>
              <a:t>4 · Roles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Analista de sistema, diseñador, analista programador, programador y arquitecto.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Reflejados en el equipo que construye Kortex.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966928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5673982" name="Oval 2"/>
          <p:cNvSpPr/>
          <p:nvPr/>
        </p:nvSpPr>
        <p:spPr bwMode="auto">
          <a:xfrm>
            <a:off x="11155680" y="-1097280"/>
            <a:ext cx="2926080" cy="2926080"/>
          </a:xfrm>
          <a:prstGeom prst="ellipse">
            <a:avLst/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9607789" name="Oval 3"/>
          <p:cNvSpPr/>
          <p:nvPr/>
        </p:nvSpPr>
        <p:spPr bwMode="auto">
          <a:xfrm>
            <a:off x="-1005840" y="5760720"/>
            <a:ext cx="2377440" cy="2377440"/>
          </a:xfrm>
          <a:prstGeom prst="ellipse">
            <a:avLst/>
          </a:prstGeom>
          <a:solidFill>
            <a:srgbClr val="FB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209371" name="Rectangle 4"/>
          <p:cNvSpPr/>
          <p:nvPr/>
        </p:nvSpPr>
        <p:spPr bwMode="auto">
          <a:xfrm>
            <a:off x="822960" y="932688"/>
            <a:ext cx="457200" cy="82296"/>
          </a:xfrm>
          <a:prstGeom prst="rect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0022172" name="TextBox 5"/>
          <p:cNvSpPr txBox="1"/>
          <p:nvPr/>
        </p:nvSpPr>
        <p:spPr bwMode="auto">
          <a:xfrm>
            <a:off x="822960" y="38404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/>
            </a:pPr>
            <a:r>
              <a:rPr sz="2500" b="1" i="0">
                <a:solidFill>
                  <a:srgbClr val="2A2230"/>
                </a:solidFill>
                <a:latin typeface="Calibri"/>
              </a:rPr>
              <a:t>Documentación inicial</a:t>
            </a:r>
            <a:endParaRPr/>
          </a:p>
        </p:txBody>
      </p:sp>
      <p:sp>
        <p:nvSpPr>
          <p:cNvPr id="688332480" name="TextBox 6"/>
          <p:cNvSpPr txBox="1"/>
          <p:nvPr/>
        </p:nvSpPr>
        <p:spPr bwMode="auto">
          <a:xfrm>
            <a:off x="10607040" y="4114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/>
            </a:pPr>
            <a:r>
              <a:rPr sz="1800" b="1" i="0">
                <a:solidFill>
                  <a:srgbClr val="6C4BD1"/>
                </a:solidFill>
                <a:latin typeface="Calibri"/>
              </a:rPr>
              <a:t>05</a:t>
            </a:r>
            <a:endParaRPr/>
          </a:p>
        </p:txBody>
      </p:sp>
      <p:sp>
        <p:nvSpPr>
          <p:cNvPr id="642908275" name="Rounded Rectangle 7"/>
          <p:cNvSpPr/>
          <p:nvPr/>
        </p:nvSpPr>
        <p:spPr bwMode="auto">
          <a:xfrm>
            <a:off x="822960" y="1508759"/>
            <a:ext cx="512064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7963813" name="Oval 8"/>
          <p:cNvSpPr/>
          <p:nvPr/>
        </p:nvSpPr>
        <p:spPr bwMode="auto">
          <a:xfrm>
            <a:off x="1024128" y="1673351"/>
            <a:ext cx="146304" cy="146304"/>
          </a:xfrm>
          <a:prstGeom prst="ellipse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1852139" name="TextBox 9"/>
          <p:cNvSpPr txBox="1"/>
          <p:nvPr/>
        </p:nvSpPr>
        <p:spPr bwMode="auto">
          <a:xfrm>
            <a:off x="1051560" y="1892806"/>
            <a:ext cx="4668119" cy="1062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/>
            </a:pPr>
            <a:r>
              <a:rPr sz="1550" b="1" i="0">
                <a:solidFill>
                  <a:srgbClr val="2A2230"/>
                </a:solidFill>
                <a:latin typeface="Calibri"/>
              </a:rPr>
              <a:t>Nombre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Kortex: Donde se almacena y conecta el conocimiento.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CLI: kortex · Conector de IA: kortex-mcp.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Espacios wiki internos: Nidos.</a:t>
            </a:r>
            <a:endParaRPr/>
          </a:p>
        </p:txBody>
      </p:sp>
      <p:sp>
        <p:nvSpPr>
          <p:cNvPr id="1852719974" name="Rounded Rectangle 10"/>
          <p:cNvSpPr/>
          <p:nvPr/>
        </p:nvSpPr>
        <p:spPr bwMode="auto">
          <a:xfrm>
            <a:off x="6217920" y="1508759"/>
            <a:ext cx="512064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6475389" name="Oval 11"/>
          <p:cNvSpPr/>
          <p:nvPr/>
        </p:nvSpPr>
        <p:spPr bwMode="auto">
          <a:xfrm>
            <a:off x="6419088" y="1673351"/>
            <a:ext cx="146304" cy="14630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2280562" name="TextBox 12"/>
          <p:cNvSpPr txBox="1"/>
          <p:nvPr/>
        </p:nvSpPr>
        <p:spPr bwMode="auto">
          <a:xfrm>
            <a:off x="6446520" y="1892806"/>
            <a:ext cx="4666319" cy="1222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/>
            </a:pPr>
            <a:r>
              <a:rPr sz="1550" b="1" i="0">
                <a:solidFill>
                  <a:srgbClr val="2A2230"/>
                </a:solidFill>
                <a:latin typeface="Calibri"/>
              </a:rPr>
              <a:t>Descripción breve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Wiki + edición ofimática + nube segura con identidad y permisos centralizados.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El contenido vive en carpetas reales; dentro puede haber un Nido (wiki .md).</a:t>
            </a:r>
            <a:endParaRPr/>
          </a:p>
        </p:txBody>
      </p:sp>
      <p:sp>
        <p:nvSpPr>
          <p:cNvPr id="1706085312" name="Rounded Rectangle 13"/>
          <p:cNvSpPr/>
          <p:nvPr/>
        </p:nvSpPr>
        <p:spPr bwMode="auto">
          <a:xfrm>
            <a:off x="822960" y="3886200"/>
            <a:ext cx="512064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9584930" name="Oval 14"/>
          <p:cNvSpPr/>
          <p:nvPr/>
        </p:nvSpPr>
        <p:spPr bwMode="auto">
          <a:xfrm>
            <a:off x="1024128" y="4050791"/>
            <a:ext cx="146304" cy="146304"/>
          </a:xfrm>
          <a:prstGeom prst="ellipse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1933284" name="TextBox 15"/>
          <p:cNvSpPr txBox="1"/>
          <p:nvPr/>
        </p:nvSpPr>
        <p:spPr bwMode="auto">
          <a:xfrm>
            <a:off x="1051560" y="4270248"/>
            <a:ext cx="466344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/>
            </a:pPr>
            <a:r>
              <a:rPr sz="1550" b="1" i="0">
                <a:solidFill>
                  <a:srgbClr val="2A2230"/>
                </a:solidFill>
                <a:latin typeface="Calibri"/>
              </a:rPr>
              <a:t>Objetivos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1. Unificar herramientas  2. Automatizar  3. Integrar IA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4. Trazabilidad y mantenimiento  5. Seguridad y control de acceso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6. Portabilidad (.md, Git)  7. Rendimiento sin perder seguridad (Fast Access)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491065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8001266" name="Oval 2"/>
          <p:cNvSpPr/>
          <p:nvPr/>
        </p:nvSpPr>
        <p:spPr bwMode="auto">
          <a:xfrm>
            <a:off x="11155680" y="-1097280"/>
            <a:ext cx="2926080" cy="2926080"/>
          </a:xfrm>
          <a:prstGeom prst="ellipse">
            <a:avLst/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5787828" name="Oval 3"/>
          <p:cNvSpPr/>
          <p:nvPr/>
        </p:nvSpPr>
        <p:spPr bwMode="auto">
          <a:xfrm>
            <a:off x="-1005840" y="5760720"/>
            <a:ext cx="2377440" cy="2377440"/>
          </a:xfrm>
          <a:prstGeom prst="ellipse">
            <a:avLst/>
          </a:prstGeom>
          <a:solidFill>
            <a:srgbClr val="FB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12377" name="Rectangle 4"/>
          <p:cNvSpPr/>
          <p:nvPr/>
        </p:nvSpPr>
        <p:spPr bwMode="auto">
          <a:xfrm>
            <a:off x="822960" y="932688"/>
            <a:ext cx="457200" cy="82296"/>
          </a:xfrm>
          <a:prstGeom prst="rect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4533064" name="TextBox 5"/>
          <p:cNvSpPr txBox="1"/>
          <p:nvPr/>
        </p:nvSpPr>
        <p:spPr bwMode="auto">
          <a:xfrm>
            <a:off x="822960" y="38404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/>
            </a:pPr>
            <a:r>
              <a:rPr sz="2500" b="1" i="0">
                <a:solidFill>
                  <a:srgbClr val="2A2230"/>
                </a:solidFill>
                <a:latin typeface="Calibri"/>
              </a:rPr>
              <a:t>Usuarios principales (roles) — ejemplo</a:t>
            </a:r>
            <a:endParaRPr/>
          </a:p>
        </p:txBody>
      </p:sp>
      <p:sp>
        <p:nvSpPr>
          <p:cNvPr id="721865707" name="TextBox 6"/>
          <p:cNvSpPr txBox="1"/>
          <p:nvPr/>
        </p:nvSpPr>
        <p:spPr bwMode="auto">
          <a:xfrm>
            <a:off x="10607040" y="4114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/>
            </a:pPr>
            <a:r>
              <a:rPr sz="1800" b="1" i="0">
                <a:solidFill>
                  <a:srgbClr val="6C4BD1"/>
                </a:solidFill>
                <a:latin typeface="Calibri"/>
              </a:rPr>
              <a:t>06</a:t>
            </a:r>
            <a:endParaRPr/>
          </a:p>
        </p:txBody>
      </p:sp>
      <p:graphicFrame>
        <p:nvGraphicFramePr>
          <p:cNvPr id="1192040976" name="Table 7"/>
          <p:cNvGraphicFramePr>
            <a:graphicFrameLocks xmlns:a="http://schemas.openxmlformats.org/drawingml/2006/main" noGrp="1"/>
          </p:cNvGraphicFramePr>
          <p:nvPr/>
        </p:nvGraphicFramePr>
        <p:xfrm rot="0">
          <a:off x="822960" y="1417320"/>
          <a:ext cx="10515600" cy="365760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093976"/>
                <a:gridCol w="4882896"/>
                <a:gridCol w="3538728"/>
              </a:tblGrid>
              <a:tr h="609600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Rol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6C4BD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Permisos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6C4BD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Tipo de usuario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6C4BD1"/>
                    </a:solidFill>
                  </a:tcPr>
                </a:tc>
              </a:tr>
              <a:tr h="609600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50" b="0" i="0">
                          <a:solidFill>
                            <a:srgbClr val="2A2230"/>
                          </a:solidFill>
                          <a:latin typeface="Calibri"/>
                        </a:rPr>
                        <a:t>Administradores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50" b="0" i="0">
                          <a:solidFill>
                            <a:srgbClr val="2A2230"/>
                          </a:solidFill>
                          <a:latin typeface="Calibri"/>
                        </a:rPr>
                        <a:t>Usuarios, grupos, permisos, cuotas, despliegue (control total)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50" b="0" i="0">
                          <a:solidFill>
                            <a:srgbClr val="2A2230"/>
                          </a:solidFill>
                          <a:latin typeface="Calibri"/>
                        </a:rPr>
                        <a:t>Gestión y sistemas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50" b="0" i="0">
                          <a:solidFill>
                            <a:srgbClr val="2A2230"/>
                          </a:solidFill>
                          <a:latin typeface="Calibri"/>
                        </a:rPr>
                        <a:t>Editores o redactores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3EFFB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50" b="0" i="0">
                          <a:solidFill>
                            <a:srgbClr val="2A2230"/>
                          </a:solidFill>
                          <a:latin typeface="Calibri"/>
                        </a:rPr>
                        <a:t>Crea y edita páginas, documentos y Nidos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3EFFB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50" b="0" i="0">
                          <a:solidFill>
                            <a:srgbClr val="2A2230"/>
                          </a:solidFill>
                          <a:latin typeface="Calibri"/>
                        </a:rPr>
                        <a:t>Empleado normal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3EFFB"/>
                    </a:solidFill>
                  </a:tcPr>
                </a:tc>
              </a:tr>
              <a:tr h="609600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50" b="0" i="0">
                          <a:solidFill>
                            <a:srgbClr val="2A2230"/>
                          </a:solidFill>
                          <a:latin typeface="Calibri"/>
                        </a:rPr>
                        <a:t>Lectores o Invitados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50" b="0" i="0">
                          <a:solidFill>
                            <a:srgbClr val="2A2230"/>
                          </a:solidFill>
                          <a:latin typeface="Calibri"/>
                        </a:rPr>
                        <a:t>Consulta solo lectura (enlace con caducidad)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50" b="0" i="0">
                          <a:solidFill>
                            <a:srgbClr val="2A2230"/>
                          </a:solidFill>
                          <a:latin typeface="Calibri"/>
                        </a:rPr>
                        <a:t>Cliente o terceros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50" b="0" i="0">
                          <a:solidFill>
                            <a:srgbClr val="2A2230"/>
                          </a:solidFill>
                          <a:latin typeface="Calibri"/>
                        </a:rPr>
                        <a:t>Integradores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3EFFB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399"/>
                        </a:spcAft>
                        <a:defRPr/>
                      </a:pPr>
                      <a:r>
                        <a:rPr sz="1250" b="0" i="0">
                          <a:solidFill>
                            <a:srgbClr val="2A2230"/>
                          </a:solidFill>
                          <a:latin typeface="Calibri"/>
                        </a:rPr>
                        <a:t>Conecta otros sistemas con el programa con la CLI y el MCP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3EFFB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50" b="0" i="0">
                          <a:solidFill>
                            <a:srgbClr val="2A2230"/>
                          </a:solidFill>
                          <a:latin typeface="Calibri"/>
                        </a:rPr>
                        <a:t>Perfil técnico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3EFFB"/>
                    </a:solidFill>
                  </a:tcPr>
                </a:tc>
              </a:tr>
              <a:tr h="609600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50" b="0" i="0">
                          <a:solidFill>
                            <a:srgbClr val="2A2230"/>
                          </a:solidFill>
                          <a:latin typeface="Calibri"/>
                        </a:rPr>
                        <a:t>Agentes IA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50" b="0" i="0">
                          <a:solidFill>
                            <a:srgbClr val="2A2230"/>
                          </a:solidFill>
                          <a:latin typeface="Calibri"/>
                        </a:rPr>
                        <a:t>Permisos heredados del usuario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50" b="0" i="0">
                          <a:solidFill>
                            <a:srgbClr val="2A2230"/>
                          </a:solidFill>
                          <a:latin typeface="Calibri"/>
                        </a:rPr>
                        <a:t>Automatización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115129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0557924" name="Oval 2"/>
          <p:cNvSpPr/>
          <p:nvPr/>
        </p:nvSpPr>
        <p:spPr bwMode="auto">
          <a:xfrm>
            <a:off x="11155680" y="-1097280"/>
            <a:ext cx="2926080" cy="2926080"/>
          </a:xfrm>
          <a:prstGeom prst="ellipse">
            <a:avLst/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3256428" name="Oval 3"/>
          <p:cNvSpPr/>
          <p:nvPr/>
        </p:nvSpPr>
        <p:spPr bwMode="auto">
          <a:xfrm>
            <a:off x="-1005840" y="5760720"/>
            <a:ext cx="2377440" cy="2377440"/>
          </a:xfrm>
          <a:prstGeom prst="ellipse">
            <a:avLst/>
          </a:prstGeom>
          <a:solidFill>
            <a:srgbClr val="FB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6974731" name="Rectangle 4"/>
          <p:cNvSpPr/>
          <p:nvPr/>
        </p:nvSpPr>
        <p:spPr bwMode="auto">
          <a:xfrm>
            <a:off x="822960" y="932688"/>
            <a:ext cx="457200" cy="82296"/>
          </a:xfrm>
          <a:prstGeom prst="rect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1552979" name="TextBox 5"/>
          <p:cNvSpPr txBox="1"/>
          <p:nvPr/>
        </p:nvSpPr>
        <p:spPr bwMode="auto">
          <a:xfrm>
            <a:off x="822960" y="38404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/>
            </a:pPr>
            <a:r>
              <a:rPr sz="2500" b="1" i="0">
                <a:solidFill>
                  <a:srgbClr val="2A2230"/>
                </a:solidFill>
                <a:latin typeface="Calibri"/>
              </a:rPr>
              <a:t>Plataformas</a:t>
            </a:r>
            <a:endParaRPr/>
          </a:p>
        </p:txBody>
      </p:sp>
      <p:sp>
        <p:nvSpPr>
          <p:cNvPr id="644682493" name="TextBox 6"/>
          <p:cNvSpPr txBox="1"/>
          <p:nvPr/>
        </p:nvSpPr>
        <p:spPr bwMode="auto">
          <a:xfrm>
            <a:off x="10607040" y="4114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/>
            </a:pPr>
            <a:r>
              <a:rPr sz="1800" b="1" i="0">
                <a:solidFill>
                  <a:srgbClr val="6C4BD1"/>
                </a:solidFill>
                <a:latin typeface="Calibri"/>
              </a:rPr>
              <a:t>07</a:t>
            </a:r>
            <a:endParaRPr/>
          </a:p>
        </p:txBody>
      </p:sp>
      <p:sp>
        <p:nvSpPr>
          <p:cNvPr id="1740197065" name="Rounded Rectangle 7"/>
          <p:cNvSpPr/>
          <p:nvPr/>
        </p:nvSpPr>
        <p:spPr bwMode="auto">
          <a:xfrm>
            <a:off x="822960" y="1508759"/>
            <a:ext cx="512064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7341165" name="Oval 8"/>
          <p:cNvSpPr/>
          <p:nvPr/>
        </p:nvSpPr>
        <p:spPr bwMode="auto">
          <a:xfrm>
            <a:off x="1024128" y="1673351"/>
            <a:ext cx="146304" cy="146304"/>
          </a:xfrm>
          <a:prstGeom prst="ellipse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1836606" name="TextBox 9"/>
          <p:cNvSpPr txBox="1"/>
          <p:nvPr/>
        </p:nvSpPr>
        <p:spPr bwMode="auto">
          <a:xfrm>
            <a:off x="1051560" y="1892806"/>
            <a:ext cx="4674599" cy="825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/>
            </a:pPr>
            <a:r>
              <a:rPr sz="1550" b="1" i="0">
                <a:solidFill>
                  <a:srgbClr val="2A2230"/>
                </a:solidFill>
                <a:latin typeface="Calibri"/>
              </a:rPr>
              <a:t>Web y escritorio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Web (navegador): Portabilidad y acceso inmediato.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Escritorio: CLI multiplataforma y app ligera.</a:t>
            </a:r>
            <a:endParaRPr/>
          </a:p>
        </p:txBody>
      </p:sp>
      <p:sp>
        <p:nvSpPr>
          <p:cNvPr id="702264427" name="Rounded Rectangle 10"/>
          <p:cNvSpPr/>
          <p:nvPr/>
        </p:nvSpPr>
        <p:spPr bwMode="auto">
          <a:xfrm>
            <a:off x="6217920" y="1508759"/>
            <a:ext cx="512064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7900409" name="Oval 11"/>
          <p:cNvSpPr/>
          <p:nvPr/>
        </p:nvSpPr>
        <p:spPr bwMode="auto">
          <a:xfrm>
            <a:off x="6419088" y="1673351"/>
            <a:ext cx="146304" cy="14630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985525" name="TextBox 12"/>
          <p:cNvSpPr txBox="1"/>
          <p:nvPr/>
        </p:nvSpPr>
        <p:spPr bwMode="auto">
          <a:xfrm>
            <a:off x="6446520" y="1892806"/>
            <a:ext cx="4668479" cy="58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/>
            </a:pPr>
            <a:r>
              <a:rPr sz="1550" b="1" i="0">
                <a:solidFill>
                  <a:srgbClr val="2A2230"/>
                </a:solidFill>
                <a:latin typeface="Calibri"/>
              </a:rPr>
              <a:t>Móvil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App básica para edición rápida (iOS y Android).</a:t>
            </a:r>
            <a:endParaRPr/>
          </a:p>
        </p:txBody>
      </p:sp>
      <p:sp>
        <p:nvSpPr>
          <p:cNvPr id="2129010545" name="Rounded Rectangle 13"/>
          <p:cNvSpPr/>
          <p:nvPr/>
        </p:nvSpPr>
        <p:spPr bwMode="auto">
          <a:xfrm>
            <a:off x="822960" y="3657599"/>
            <a:ext cx="512064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5612930" name="Oval 14"/>
          <p:cNvSpPr/>
          <p:nvPr/>
        </p:nvSpPr>
        <p:spPr bwMode="auto">
          <a:xfrm>
            <a:off x="1024128" y="3822191"/>
            <a:ext cx="146304" cy="146304"/>
          </a:xfrm>
          <a:prstGeom prst="ellipse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7475246" name="TextBox 15"/>
          <p:cNvSpPr txBox="1"/>
          <p:nvPr/>
        </p:nvSpPr>
        <p:spPr bwMode="auto">
          <a:xfrm>
            <a:off x="1051560" y="4041648"/>
            <a:ext cx="4667399" cy="1062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/>
            </a:pPr>
            <a:r>
              <a:rPr sz="1550" b="1" i="0">
                <a:solidFill>
                  <a:srgbClr val="2A2230"/>
                </a:solidFill>
                <a:latin typeface="Calibri"/>
              </a:rPr>
              <a:t>Servidor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Docker/Kubernetes, en nube o local.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API REST + MCP + SMB/WebDAV + caché RAM/WAL.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La carpeta puede montarse como unidad de red.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17950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3304054" name="Oval 2"/>
          <p:cNvSpPr/>
          <p:nvPr/>
        </p:nvSpPr>
        <p:spPr bwMode="auto">
          <a:xfrm>
            <a:off x="11155680" y="-1097280"/>
            <a:ext cx="2926080" cy="2926080"/>
          </a:xfrm>
          <a:prstGeom prst="ellipse">
            <a:avLst/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2409393" name="Oval 3"/>
          <p:cNvSpPr/>
          <p:nvPr/>
        </p:nvSpPr>
        <p:spPr bwMode="auto">
          <a:xfrm>
            <a:off x="-1005840" y="5760720"/>
            <a:ext cx="2377440" cy="2377440"/>
          </a:xfrm>
          <a:prstGeom prst="ellipse">
            <a:avLst/>
          </a:prstGeom>
          <a:solidFill>
            <a:srgbClr val="FB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8175599" name="Rectangle 4"/>
          <p:cNvSpPr/>
          <p:nvPr/>
        </p:nvSpPr>
        <p:spPr bwMode="auto">
          <a:xfrm>
            <a:off x="822960" y="932688"/>
            <a:ext cx="457200" cy="82296"/>
          </a:xfrm>
          <a:prstGeom prst="rect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366091" name="TextBox 5"/>
          <p:cNvSpPr txBox="1"/>
          <p:nvPr/>
        </p:nvSpPr>
        <p:spPr bwMode="auto">
          <a:xfrm>
            <a:off x="822960" y="38404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/>
            </a:pPr>
            <a:r>
              <a:rPr sz="2500" b="1" i="0">
                <a:solidFill>
                  <a:srgbClr val="2A2230"/>
                </a:solidFill>
                <a:latin typeface="Calibri"/>
              </a:rPr>
              <a:t>Modelo de desarrollo: Scrum + espiral</a:t>
            </a:r>
            <a:endParaRPr/>
          </a:p>
        </p:txBody>
      </p:sp>
      <p:sp>
        <p:nvSpPr>
          <p:cNvPr id="756802969" name="TextBox 6"/>
          <p:cNvSpPr txBox="1"/>
          <p:nvPr/>
        </p:nvSpPr>
        <p:spPr bwMode="auto">
          <a:xfrm>
            <a:off x="10607040" y="4114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/>
            </a:pPr>
            <a:r>
              <a:rPr sz="1800" b="1" i="0">
                <a:solidFill>
                  <a:srgbClr val="6C4BD1"/>
                </a:solidFill>
                <a:latin typeface="Calibri"/>
              </a:rPr>
              <a:t>08</a:t>
            </a:r>
            <a:endParaRPr/>
          </a:p>
        </p:txBody>
      </p:sp>
      <p:sp>
        <p:nvSpPr>
          <p:cNvPr id="1781901372" name="TextBox 7"/>
          <p:cNvSpPr txBox="1"/>
          <p:nvPr/>
        </p:nvSpPr>
        <p:spPr bwMode="auto">
          <a:xfrm>
            <a:off x="822960" y="1417319"/>
            <a:ext cx="10527119" cy="1767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defRPr/>
            </a:pPr>
            <a:r>
              <a:rPr sz="1700" b="0" i="0">
                <a:solidFill>
                  <a:srgbClr val="2A2230"/>
                </a:solidFill>
                <a:latin typeface="Calibri"/>
              </a:rPr>
              <a:t>✦  ¿Mejor que cascada? El sector cambia rápido: cascada obliga a publicar tarde y arriesga construir algo no pedido.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defRPr/>
            </a:pPr>
            <a:r>
              <a:rPr sz="1700" b="0" i="0">
                <a:solidFill>
                  <a:srgbClr val="2A2230"/>
                </a:solidFill>
                <a:latin typeface="Calibri"/>
              </a:rPr>
              <a:t>✦  Scrum (ágil): sprints de 2 semanas; cada uno viene con una nueva funcionalidad.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defRPr/>
            </a:pPr>
            <a:r>
              <a:rPr sz="1700" b="0" i="0">
                <a:solidFill>
                  <a:srgbClr val="2A2230"/>
                </a:solidFill>
                <a:latin typeface="Calibri"/>
              </a:rPr>
              <a:t>✦  Antes del primer sprint, un ciclo en espiral valida que carpeta + wiki + editor + permisos + API conviven.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defRPr/>
            </a:pPr>
            <a:r>
              <a:rPr sz="1700" b="0" i="0">
                <a:solidFill>
                  <a:srgbClr val="2A2230"/>
                </a:solidFill>
                <a:latin typeface="Calibri"/>
              </a:rPr>
              <a:t>✦  Referencia del tema: caso práctico 2 — con lo ágil se llega antes al mercado que un competidor en cascada.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374299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4206783" name="Oval 2"/>
          <p:cNvSpPr/>
          <p:nvPr/>
        </p:nvSpPr>
        <p:spPr bwMode="auto">
          <a:xfrm>
            <a:off x="11155680" y="-1097280"/>
            <a:ext cx="2926080" cy="2926080"/>
          </a:xfrm>
          <a:prstGeom prst="ellipse">
            <a:avLst/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6858343" name="Oval 3"/>
          <p:cNvSpPr/>
          <p:nvPr/>
        </p:nvSpPr>
        <p:spPr bwMode="auto">
          <a:xfrm>
            <a:off x="-1005840" y="5760720"/>
            <a:ext cx="2377440" cy="2377440"/>
          </a:xfrm>
          <a:prstGeom prst="ellipse">
            <a:avLst/>
          </a:prstGeom>
          <a:solidFill>
            <a:srgbClr val="FB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9459665" name="Rectangle 4"/>
          <p:cNvSpPr/>
          <p:nvPr/>
        </p:nvSpPr>
        <p:spPr bwMode="auto">
          <a:xfrm>
            <a:off x="822960" y="932688"/>
            <a:ext cx="457200" cy="82296"/>
          </a:xfrm>
          <a:prstGeom prst="rect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15941" name="TextBox 5"/>
          <p:cNvSpPr txBox="1"/>
          <p:nvPr/>
        </p:nvSpPr>
        <p:spPr bwMode="auto">
          <a:xfrm>
            <a:off x="822960" y="38404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/>
            </a:pPr>
            <a:r>
              <a:rPr sz="2500" b="1" i="0">
                <a:solidFill>
                  <a:srgbClr val="2A2230"/>
                </a:solidFill>
                <a:latin typeface="Calibri"/>
              </a:rPr>
              <a:t>Roadmap de sprints</a:t>
            </a:r>
            <a:endParaRPr/>
          </a:p>
        </p:txBody>
      </p:sp>
      <p:sp>
        <p:nvSpPr>
          <p:cNvPr id="939042417" name="TextBox 6"/>
          <p:cNvSpPr txBox="1"/>
          <p:nvPr/>
        </p:nvSpPr>
        <p:spPr bwMode="auto">
          <a:xfrm>
            <a:off x="10607040" y="4114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/>
            </a:pPr>
            <a:r>
              <a:rPr sz="1800" b="1" i="0">
                <a:solidFill>
                  <a:srgbClr val="6C4BD1"/>
                </a:solidFill>
                <a:latin typeface="Calibri"/>
              </a:rPr>
              <a:t>09</a:t>
            </a:r>
            <a:endParaRPr/>
          </a:p>
        </p:txBody>
      </p:sp>
      <p:graphicFrame>
        <p:nvGraphicFramePr>
          <p:cNvPr id="708233978" name="Table 7"/>
          <p:cNvGraphicFramePr>
            <a:graphicFrameLocks xmlns:a="http://schemas.openxmlformats.org/drawingml/2006/main" noGrp="1"/>
          </p:cNvGraphicFramePr>
          <p:nvPr/>
        </p:nvGraphicFramePr>
        <p:xfrm rot="0">
          <a:off x="822960" y="1371600"/>
          <a:ext cx="10515600" cy="45262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093976"/>
                <a:gridCol w="8421624"/>
              </a:tblGrid>
              <a:tr h="502920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Sprint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6C4BD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Entrega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6C4BD1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0 · Espiral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399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Prototipo: Carpeta con wiki, editor básico, permisos y API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1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3EFFB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Identidad y permisos centralizados (LDAP / AD / SSO)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3EFFB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2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Almacén de archivos y montaje SMB/WebDAV (nube segura)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3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3EFFB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Wiki y Nidos (páginas .md anidadas en carpetas)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3EFFB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4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Editor ofimático con co-edición en tiempo real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5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3EFFB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CLI kortex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3EFFB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6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Servidor MCP para agentes de IA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7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3EFFB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Fast Access (RAM + diario/WAL + durabilidad)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3EF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001928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5648713" name="Oval 2"/>
          <p:cNvSpPr/>
          <p:nvPr/>
        </p:nvSpPr>
        <p:spPr bwMode="auto">
          <a:xfrm>
            <a:off x="11155680" y="-1097280"/>
            <a:ext cx="2926080" cy="2926080"/>
          </a:xfrm>
          <a:prstGeom prst="ellipse">
            <a:avLst/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1397885" name="Oval 3"/>
          <p:cNvSpPr/>
          <p:nvPr/>
        </p:nvSpPr>
        <p:spPr bwMode="auto">
          <a:xfrm>
            <a:off x="-1005840" y="5760720"/>
            <a:ext cx="2377440" cy="2377440"/>
          </a:xfrm>
          <a:prstGeom prst="ellipse">
            <a:avLst/>
          </a:prstGeom>
          <a:solidFill>
            <a:srgbClr val="FB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284570" name="Rectangle 4"/>
          <p:cNvSpPr/>
          <p:nvPr/>
        </p:nvSpPr>
        <p:spPr bwMode="auto">
          <a:xfrm>
            <a:off x="822960" y="932688"/>
            <a:ext cx="457200" cy="82296"/>
          </a:xfrm>
          <a:prstGeom prst="rect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7355129" name="TextBox 5"/>
          <p:cNvSpPr txBox="1"/>
          <p:nvPr/>
        </p:nvSpPr>
        <p:spPr bwMode="auto">
          <a:xfrm>
            <a:off x="822960" y="38404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/>
            </a:pPr>
            <a:r>
              <a:rPr sz="2500" b="1" i="0">
                <a:solidFill>
                  <a:srgbClr val="2A2230"/>
                </a:solidFill>
                <a:latin typeface="Calibri"/>
              </a:rPr>
              <a:t>Requisitos funcionales (qué hace) — 21</a:t>
            </a:r>
            <a:endParaRPr/>
          </a:p>
        </p:txBody>
      </p:sp>
      <p:sp>
        <p:nvSpPr>
          <p:cNvPr id="1850121484" name="TextBox 6"/>
          <p:cNvSpPr txBox="1"/>
          <p:nvPr/>
        </p:nvSpPr>
        <p:spPr bwMode="auto">
          <a:xfrm>
            <a:off x="10607040" y="4114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/>
            </a:pPr>
            <a:r>
              <a:rPr sz="1800" b="1" i="0">
                <a:solidFill>
                  <a:srgbClr val="6C4BD1"/>
                </a:solidFill>
                <a:latin typeface="Calibri"/>
              </a:rPr>
              <a:t>10</a:t>
            </a:r>
            <a:endParaRPr/>
          </a:p>
        </p:txBody>
      </p:sp>
      <p:sp>
        <p:nvSpPr>
          <p:cNvPr id="194486824" name="TextBox 7"/>
          <p:cNvSpPr txBox="1"/>
          <p:nvPr/>
        </p:nvSpPr>
        <p:spPr bwMode="auto"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sz="1450" b="0" i="0">
                <a:solidFill>
                  <a:srgbClr val="2A2230"/>
                </a:solidFill>
                <a:latin typeface="Calibri"/>
              </a:rPr>
              <a:t>✦  Wiki jerárquica (colecciones y subpáginas) y editor ofimático con co-edición en vivo (DOCX, XLSX, PPTX, PDF).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sz="1450" b="0" i="0">
                <a:solidFill>
                  <a:srgbClr val="2A2230"/>
                </a:solidFill>
                <a:latin typeface="Calibri"/>
              </a:rPr>
              <a:t>✦  Búsqueda de texto completo que indexa tanto los archivos de la carpeta como las páginas de los Nidos.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sz="1450" b="0" i="0">
                <a:solidFill>
                  <a:srgbClr val="2A2230"/>
                </a:solidFill>
                <a:latin typeface="Calibri"/>
              </a:rPr>
              <a:t>✦  CLI kortex (crear, leer, actualizar y publicar desde la terminal) y servidor MCP para que los agentes de IA hagan lo mismo.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sz="1450" b="0" i="0">
                <a:solidFill>
                  <a:srgbClr val="2A2230"/>
                </a:solidFill>
                <a:latin typeface="Calibri"/>
              </a:rPr>
              <a:t>✦  Permisos por rol y ACL heredadas (carpeta → Nido → página), más historial de versiones con restauración.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sz="1450" b="0" i="0">
                <a:solidFill>
                  <a:srgbClr val="2A2230"/>
                </a:solidFill>
                <a:latin typeface="Calibri"/>
              </a:rPr>
              <a:t>✦  Identidad centralizada (LDAP / AD / Kerberos): una sola cuenta sirve para SMB, web y wiki.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sz="1450" b="0" i="0">
                <a:solidFill>
                  <a:srgbClr val="2A2230"/>
                </a:solidFill>
                <a:latin typeface="Calibri"/>
              </a:rPr>
              <a:t>✦  Montaje de la carpeta como unidad de red (SMB/CIFS/WebDAV): aparece como un disco más.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sz="1450" b="0" i="0">
                <a:solidFill>
                  <a:srgbClr val="2A2230"/>
                </a:solidFill>
                <a:latin typeface="Calibri"/>
              </a:rPr>
              <a:t>✦  Nidos: wiki de archivos .md anidada dentro de una carpeta real, editable desde disco o desde la web.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sz="1450" b="0" i="0">
                <a:solidFill>
                  <a:srgbClr val="2A2230"/>
                </a:solidFill>
                <a:latin typeface="Calibri"/>
              </a:rPr>
              <a:t>✦  Fast Access: carpetas en RAM con política de durabilidad y cuotas, con desalojo automático.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sz="1450" b="0" i="0">
                <a:solidFill>
                  <a:srgbClr val="2A2230"/>
                </a:solidFill>
                <a:latin typeface="Calibri"/>
              </a:rPr>
              <a:t>✦  Diagramas integrados tipo draw.io: se crean y editan dentro de Kortex y se guardan como un archivo del proyecto.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sz="1450" b="0" i="0">
                <a:solidFill>
                  <a:srgbClr val="2A2230"/>
                </a:solidFill>
                <a:latin typeface="Calibri"/>
              </a:rPr>
              <a:t>✦  Editor de HTML/CSS con visor en vivo: código a un lado y resultado al otro, con autoguardado que refresca la vista.</a:t>
            </a:r>
            <a:endParaRPr/>
          </a:p>
        </p:txBody>
      </p:sp>
      <p:sp>
        <p:nvSpPr>
          <p:cNvPr id="1767648437" name="Rounded Rectangle 8"/>
          <p:cNvSpPr/>
          <p:nvPr/>
        </p:nvSpPr>
        <p:spPr bwMode="auto">
          <a:xfrm>
            <a:off x="822960" y="5623560"/>
            <a:ext cx="10515600" cy="731520"/>
          </a:xfrm>
          <a:prstGeom prst="roundRect">
            <a:avLst>
              <a:gd name="adj" fmla="val 16000"/>
            </a:avLst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5698806" name="TextBox 9"/>
          <p:cNvSpPr txBox="1"/>
          <p:nvPr/>
        </p:nvSpPr>
        <p:spPr bwMode="auto">
          <a:xfrm>
            <a:off x="1051560" y="573328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/>
            </a:pPr>
            <a:r>
              <a:rPr sz="1400" b="0" i="1">
                <a:solidFill>
                  <a:srgbClr val="6C4BD1"/>
                </a:solidFill>
                <a:latin typeface="Calibri"/>
              </a:rPr>
              <a:t>Un requisito funcional describe un comportamiento: qué hace el sistema ante una entrada o acción.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342839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5097302" name="Oval 2"/>
          <p:cNvSpPr/>
          <p:nvPr/>
        </p:nvSpPr>
        <p:spPr bwMode="auto">
          <a:xfrm>
            <a:off x="11155680" y="-1097280"/>
            <a:ext cx="2926080" cy="2926080"/>
          </a:xfrm>
          <a:prstGeom prst="ellipse">
            <a:avLst/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6625262" name="Oval 3"/>
          <p:cNvSpPr/>
          <p:nvPr/>
        </p:nvSpPr>
        <p:spPr bwMode="auto">
          <a:xfrm>
            <a:off x="-1005840" y="5760720"/>
            <a:ext cx="2377440" cy="2377440"/>
          </a:xfrm>
          <a:prstGeom prst="ellipse">
            <a:avLst/>
          </a:prstGeom>
          <a:solidFill>
            <a:srgbClr val="FB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3642986" name="Rectangle 4"/>
          <p:cNvSpPr/>
          <p:nvPr/>
        </p:nvSpPr>
        <p:spPr bwMode="auto">
          <a:xfrm>
            <a:off x="822960" y="932688"/>
            <a:ext cx="457200" cy="82296"/>
          </a:xfrm>
          <a:prstGeom prst="rect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8591735" name="TextBox 5"/>
          <p:cNvSpPr txBox="1"/>
          <p:nvPr/>
        </p:nvSpPr>
        <p:spPr bwMode="auto">
          <a:xfrm>
            <a:off x="822960" y="38404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/>
            </a:pPr>
            <a:r>
              <a:rPr sz="2500" b="1" i="0">
                <a:solidFill>
                  <a:srgbClr val="2A2230"/>
                </a:solidFill>
                <a:latin typeface="Calibri"/>
              </a:rPr>
              <a:t>Requisitos no funcionales (cómo) — 12</a:t>
            </a:r>
            <a:endParaRPr/>
          </a:p>
        </p:txBody>
      </p:sp>
      <p:sp>
        <p:nvSpPr>
          <p:cNvPr id="469838500" name="TextBox 6"/>
          <p:cNvSpPr txBox="1"/>
          <p:nvPr/>
        </p:nvSpPr>
        <p:spPr bwMode="auto">
          <a:xfrm>
            <a:off x="10607040" y="4114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/>
            </a:pPr>
            <a:r>
              <a:rPr sz="1800" b="1" i="0">
                <a:solidFill>
                  <a:srgbClr val="6C4BD1"/>
                </a:solidFill>
                <a:latin typeface="Calibri"/>
              </a:rPr>
              <a:t>11</a:t>
            </a:r>
            <a:endParaRPr/>
          </a:p>
        </p:txBody>
      </p:sp>
      <p:sp>
        <p:nvSpPr>
          <p:cNvPr id="1351639544" name="TextBox 7"/>
          <p:cNvSpPr txBox="1"/>
          <p:nvPr/>
        </p:nvSpPr>
        <p:spPr bwMode="auto">
          <a:xfrm>
            <a:off x="822960" y="1417319"/>
            <a:ext cx="10583999" cy="286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/>
            </a:pPr>
            <a:r>
              <a:rPr sz="1550" b="0" i="0">
                <a:solidFill>
                  <a:srgbClr val="2A2230"/>
                </a:solidFill>
                <a:latin typeface="Calibri"/>
              </a:rPr>
              <a:t>✦  Rendimiento: La búsqueda y modificación es inmediata con Fast Access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/>
            </a:pPr>
            <a:r>
              <a:rPr sz="1550" b="0" i="0">
                <a:solidFill>
                  <a:srgbClr val="2A2230"/>
                </a:solidFill>
                <a:latin typeface="Calibri"/>
              </a:rPr>
              <a:t>✦  Escalabilidad: Horizontal con kubernetes.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/>
            </a:pPr>
            <a:r>
              <a:rPr sz="1550" b="0" i="0">
                <a:solidFill>
                  <a:srgbClr val="2A2230"/>
                </a:solidFill>
                <a:latin typeface="Calibri"/>
              </a:rPr>
              <a:t>✦  Seguridad: Cifrado en reposo y en tránsito + aislamiento por organización.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/>
            </a:pPr>
            <a:r>
              <a:rPr sz="1550" b="0" i="0">
                <a:solidFill>
                  <a:srgbClr val="2A2230"/>
                </a:solidFill>
                <a:latin typeface="Calibri"/>
              </a:rPr>
              <a:t>✦  Disponibilidad: Respuesta rápida y edición conjunta.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/>
            </a:pPr>
            <a:r>
              <a:rPr sz="1550" b="0" i="0">
                <a:solidFill>
                  <a:srgbClr val="2A2230"/>
                </a:solidFill>
                <a:latin typeface="Calibri"/>
              </a:rPr>
              <a:t>✦  Usabilidad y accesibilidad: español/inglés, WCAG 2.1 AA.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/>
            </a:pPr>
            <a:r>
              <a:rPr sz="1550" b="0" i="0">
                <a:solidFill>
                  <a:srgbClr val="2A2230"/>
                </a:solidFill>
                <a:latin typeface="Calibri"/>
              </a:rPr>
              <a:t>✦  Portabilidad: Docker/Kubernetes o en local, sin dependencia de un cloud.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/>
            </a:pPr>
            <a:r>
              <a:rPr sz="1550" b="0" i="0">
                <a:solidFill>
                  <a:srgbClr val="2A2230"/>
                </a:solidFill>
                <a:latin typeface="Calibri"/>
              </a:rPr>
              <a:t>✦  Interoperabilidad SMB2/SMB3 y conformidad con AD/Kerberos.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/>
            </a:pPr>
            <a:r>
              <a:rPr sz="1550" b="0" i="0">
                <a:solidFill>
                  <a:srgbClr val="2A2230"/>
                </a:solidFill>
                <a:latin typeface="Calibri"/>
              </a:rPr>
              <a:t>✦  Privacidad: Sin salida de datos.</a:t>
            </a:r>
            <a:endParaRPr/>
          </a:p>
        </p:txBody>
      </p:sp>
      <p:sp>
        <p:nvSpPr>
          <p:cNvPr id="363843766" name="Rounded Rectangle 8"/>
          <p:cNvSpPr/>
          <p:nvPr/>
        </p:nvSpPr>
        <p:spPr bwMode="auto">
          <a:xfrm>
            <a:off x="822960" y="5623560"/>
            <a:ext cx="10515600" cy="731520"/>
          </a:xfrm>
          <a:prstGeom prst="roundRect">
            <a:avLst>
              <a:gd name="adj" fmla="val 16000"/>
            </a:avLst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3022044" name="TextBox 9"/>
          <p:cNvSpPr txBox="1"/>
          <p:nvPr/>
        </p:nvSpPr>
        <p:spPr bwMode="auto">
          <a:xfrm>
            <a:off x="1051560" y="573328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/>
            </a:pPr>
            <a:r>
              <a:rPr sz="1400" b="0" i="1">
                <a:solidFill>
                  <a:srgbClr val="6C4BD1"/>
                </a:solidFill>
                <a:latin typeface="Calibri"/>
              </a:rPr>
              <a:t>Un requisito no funcional describe cómo debe comportarse: calidad, rendimiento, seguridad…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971900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1662017" name="Oval 2"/>
          <p:cNvSpPr/>
          <p:nvPr/>
        </p:nvSpPr>
        <p:spPr bwMode="auto">
          <a:xfrm>
            <a:off x="11155680" y="-1097280"/>
            <a:ext cx="2926080" cy="2926080"/>
          </a:xfrm>
          <a:prstGeom prst="ellipse">
            <a:avLst/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6856373" name="Oval 3"/>
          <p:cNvSpPr/>
          <p:nvPr/>
        </p:nvSpPr>
        <p:spPr bwMode="auto">
          <a:xfrm>
            <a:off x="-1005840" y="5760720"/>
            <a:ext cx="2377440" cy="2377440"/>
          </a:xfrm>
          <a:prstGeom prst="ellipse">
            <a:avLst/>
          </a:prstGeom>
          <a:solidFill>
            <a:srgbClr val="FB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4320353" name="Rectangle 4"/>
          <p:cNvSpPr/>
          <p:nvPr/>
        </p:nvSpPr>
        <p:spPr bwMode="auto">
          <a:xfrm>
            <a:off x="822960" y="932688"/>
            <a:ext cx="457200" cy="82296"/>
          </a:xfrm>
          <a:prstGeom prst="rect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6300005" name="TextBox 5"/>
          <p:cNvSpPr txBox="1"/>
          <p:nvPr/>
        </p:nvSpPr>
        <p:spPr bwMode="auto">
          <a:xfrm>
            <a:off x="822960" y="38404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/>
            </a:pPr>
            <a:r>
              <a:rPr sz="2500" b="1" i="0">
                <a:solidFill>
                  <a:srgbClr val="2A2230"/>
                </a:solidFill>
                <a:latin typeface="Calibri"/>
              </a:rPr>
              <a:t>Seguridad e identidad centralizada (tipo Samba/AD)</a:t>
            </a:r>
            <a:endParaRPr/>
          </a:p>
        </p:txBody>
      </p:sp>
      <p:sp>
        <p:nvSpPr>
          <p:cNvPr id="747262619" name="TextBox 6"/>
          <p:cNvSpPr txBox="1"/>
          <p:nvPr/>
        </p:nvSpPr>
        <p:spPr bwMode="auto">
          <a:xfrm>
            <a:off x="10607040" y="4114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/>
            </a:pPr>
            <a:r>
              <a:rPr sz="1800" b="1" i="0">
                <a:solidFill>
                  <a:srgbClr val="6C4BD1"/>
                </a:solidFill>
                <a:latin typeface="Calibri"/>
              </a:rPr>
              <a:t>12</a:t>
            </a:r>
            <a:endParaRPr/>
          </a:p>
        </p:txBody>
      </p:sp>
      <p:sp>
        <p:nvSpPr>
          <p:cNvPr id="1932376743" name="TextBox 7"/>
          <p:cNvSpPr txBox="1"/>
          <p:nvPr/>
        </p:nvSpPr>
        <p:spPr bwMode="auto">
          <a:xfrm>
            <a:off x="822960" y="1417319"/>
            <a:ext cx="10536119" cy="2448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/>
            </a:pPr>
            <a:r>
              <a:rPr sz="1500" b="0" i="0">
                <a:solidFill>
                  <a:srgbClr val="2A2230"/>
                </a:solidFill>
                <a:latin typeface="Calibri"/>
              </a:rPr>
              <a:t>✦  Directorio único (LDAP / Active Directory / Kerberos): Un registro por usuario, vale para SMB, web y wiki.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/>
            </a:pPr>
            <a:r>
              <a:rPr sz="1500" b="0" i="0">
                <a:solidFill>
                  <a:srgbClr val="2A2230"/>
                </a:solidFill>
                <a:latin typeface="Calibri"/>
              </a:rPr>
              <a:t>✦  Permisos heredados (ACL): carpeta → Nido → página, con excepciones configurables.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/>
            </a:pPr>
            <a:r>
              <a:rPr sz="1500" b="0" i="0">
                <a:solidFill>
                  <a:srgbClr val="2A2230"/>
                </a:solidFill>
                <a:latin typeface="Calibri"/>
              </a:rPr>
              <a:t>✦  Doble capa: ACL y RBAC.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/>
            </a:pPr>
            <a:r>
              <a:rPr sz="1500" b="0" i="0">
                <a:solidFill>
                  <a:srgbClr val="2A2230"/>
                </a:solidFill>
                <a:latin typeface="Calibri"/>
              </a:rPr>
              <a:t>✦  Montaje como unidad de red: El usuario ve su nube segura en el explorador de archivos.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/>
            </a:pPr>
            <a:r>
              <a:rPr sz="1500" b="0" i="0">
                <a:solidFill>
                  <a:srgbClr val="2A2230"/>
                </a:solidFill>
                <a:latin typeface="Calibri"/>
              </a:rPr>
              <a:t>✦  Endurecimiento: MFA, tokens con caducidad, cifrado en reposo y en tránsito.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/>
            </a:pPr>
            <a:r>
              <a:rPr sz="1500" b="0" i="0">
                <a:solidFill>
                  <a:srgbClr val="2A2230"/>
                </a:solidFill>
                <a:latin typeface="Calibri"/>
              </a:rPr>
              <a:t>✦  Control: Cuotas, enlaces caducables y auditoría de accesos (quién, qué, cuándo).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defRPr/>
            </a:pPr>
            <a:r>
              <a:rPr sz="1500" b="0" i="0">
                <a:solidFill>
                  <a:srgbClr val="2A2230"/>
                </a:solidFill>
                <a:latin typeface="Calibri"/>
              </a:rPr>
              <a:t>✦  El agente de IA hereda los permisos del usuario que lo invoca: puede hacer lo mismo que ese usuario, y nada más.</a:t>
            </a:r>
            <a:endParaRPr/>
          </a:p>
        </p:txBody>
      </p:sp>
      <p:sp>
        <p:nvSpPr>
          <p:cNvPr id="2132534006" name="Rounded Rectangle 8"/>
          <p:cNvSpPr/>
          <p:nvPr/>
        </p:nvSpPr>
        <p:spPr bwMode="auto">
          <a:xfrm>
            <a:off x="822960" y="5623560"/>
            <a:ext cx="10515600" cy="731520"/>
          </a:xfrm>
          <a:prstGeom prst="roundRect">
            <a:avLst>
              <a:gd name="adj" fmla="val 16000"/>
            </a:avLst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2090916" name="TextBox 9"/>
          <p:cNvSpPr txBox="1"/>
          <p:nvPr/>
        </p:nvSpPr>
        <p:spPr bwMode="auto">
          <a:xfrm>
            <a:off x="1051560" y="573328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/>
            </a:pPr>
            <a:r>
              <a:rPr sz="1400" b="1" i="1">
                <a:solidFill>
                  <a:srgbClr val="6C4BD1"/>
                </a:solidFill>
                <a:latin typeface="Calibri"/>
              </a:rPr>
              <a:t>Resultado: una nube privada segura y, encima, la plataforma de edición y de notas.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695911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9968389" name="Oval 2"/>
          <p:cNvSpPr/>
          <p:nvPr/>
        </p:nvSpPr>
        <p:spPr bwMode="auto">
          <a:xfrm>
            <a:off x="11155680" y="-1097280"/>
            <a:ext cx="2926080" cy="2926080"/>
          </a:xfrm>
          <a:prstGeom prst="ellipse">
            <a:avLst/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7270114" name="Oval 3"/>
          <p:cNvSpPr/>
          <p:nvPr/>
        </p:nvSpPr>
        <p:spPr bwMode="auto">
          <a:xfrm>
            <a:off x="-1005840" y="5760720"/>
            <a:ext cx="2377440" cy="2377440"/>
          </a:xfrm>
          <a:prstGeom prst="ellipse">
            <a:avLst/>
          </a:prstGeom>
          <a:solidFill>
            <a:srgbClr val="FB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3506049" name="Rectangle 4"/>
          <p:cNvSpPr/>
          <p:nvPr/>
        </p:nvSpPr>
        <p:spPr bwMode="auto">
          <a:xfrm>
            <a:off x="822960" y="932688"/>
            <a:ext cx="457200" cy="82296"/>
          </a:xfrm>
          <a:prstGeom prst="rect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3702994" name="TextBox 5"/>
          <p:cNvSpPr txBox="1"/>
          <p:nvPr/>
        </p:nvSpPr>
        <p:spPr bwMode="auto">
          <a:xfrm>
            <a:off x="822960" y="38404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/>
            </a:pPr>
            <a:r>
              <a:rPr sz="2500" b="1" i="0">
                <a:solidFill>
                  <a:srgbClr val="2A2230"/>
                </a:solidFill>
                <a:latin typeface="Calibri"/>
              </a:rPr>
              <a:t>El modelo carpeta-Nido (wiki dentro de una carpeta)</a:t>
            </a:r>
            <a:endParaRPr/>
          </a:p>
        </p:txBody>
      </p:sp>
      <p:sp>
        <p:nvSpPr>
          <p:cNvPr id="530100242" name="TextBox 6"/>
          <p:cNvSpPr txBox="1"/>
          <p:nvPr/>
        </p:nvSpPr>
        <p:spPr bwMode="auto">
          <a:xfrm>
            <a:off x="10607040" y="4114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/>
            </a:pPr>
            <a:r>
              <a:rPr sz="1800" b="1" i="0">
                <a:solidFill>
                  <a:srgbClr val="6C4BD1"/>
                </a:solidFill>
                <a:latin typeface="Calibri"/>
              </a:rPr>
              <a:t>13</a:t>
            </a:r>
            <a:endParaRPr/>
          </a:p>
        </p:txBody>
      </p:sp>
      <p:sp>
        <p:nvSpPr>
          <p:cNvPr id="1026289352" name="TextBox 7"/>
          <p:cNvSpPr txBox="1"/>
          <p:nvPr/>
        </p:nvSpPr>
        <p:spPr bwMode="auto">
          <a:xfrm>
            <a:off x="914400" y="155448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/>
            </a:pPr>
            <a:r>
              <a:rPr sz="1400" b="1" i="0">
                <a:solidFill>
                  <a:srgbClr val="6C4BD1"/>
                </a:solidFill>
                <a:latin typeface="Consolas"/>
              </a:rPr>
              <a:t>/proyectos/mi-proyecto/</a:t>
            </a:r>
            <a:endParaRPr/>
          </a:p>
          <a:p>
            <a:pPr algn="l">
              <a:spcBef>
                <a:spcPts val="0"/>
              </a:spcBef>
              <a:spcAft>
                <a:spcPts val="300"/>
              </a:spcAft>
              <a:defRPr/>
            </a:pPr>
            <a:r>
              <a:rPr sz="1200" b="0" i="0">
                <a:solidFill>
                  <a:srgbClr val="2A2230"/>
                </a:solidFill>
                <a:latin typeface="Consolas"/>
              </a:rPr>
              <a:t>├── program.java          # código</a:t>
            </a:r>
            <a:endParaRPr/>
          </a:p>
          <a:p>
            <a:pPr algn="l">
              <a:spcBef>
                <a:spcPts val="0"/>
              </a:spcBef>
              <a:spcAft>
                <a:spcPts val="300"/>
              </a:spcAft>
              <a:defRPr/>
            </a:pPr>
            <a:r>
              <a:rPr sz="1200" b="0" i="0">
                <a:solidFill>
                  <a:srgbClr val="2A2230"/>
                </a:solidFill>
                <a:latin typeface="Consolas"/>
              </a:rPr>
              <a:t>├── documentacion.docx    # ofimática</a:t>
            </a:r>
            <a:endParaRPr/>
          </a:p>
          <a:p>
            <a:pPr algn="l">
              <a:spcBef>
                <a:spcPts val="0"/>
              </a:spcBef>
              <a:spcAft>
                <a:spcPts val="300"/>
              </a:spcAft>
              <a:defRPr/>
            </a:pPr>
            <a:r>
              <a:rPr sz="1200" b="0" i="0">
                <a:solidFill>
                  <a:srgbClr val="2A2230"/>
                </a:solidFill>
                <a:latin typeface="Consolas"/>
              </a:rPr>
              <a:t>├── presentacion.pptx     # presentación</a:t>
            </a:r>
            <a:endParaRPr/>
          </a:p>
          <a:p>
            <a:pPr algn="l">
              <a:spcBef>
                <a:spcPts val="0"/>
              </a:spcBef>
              <a:spcAft>
                <a:spcPts val="300"/>
              </a:spcAft>
              <a:defRPr/>
            </a:pPr>
            <a:r>
              <a:rPr sz="1200" b="0" i="0">
                <a:solidFill>
                  <a:srgbClr val="2A2230"/>
                </a:solidFill>
                <a:latin typeface="Consolas"/>
              </a:rPr>
              <a:t>├── datos.xlsx</a:t>
            </a:r>
            <a:endParaRPr/>
          </a:p>
          <a:p>
            <a:pPr algn="l">
              <a:spcBef>
                <a:spcPts val="0"/>
              </a:spcBef>
              <a:spcAft>
                <a:spcPts val="300"/>
              </a:spcAft>
              <a:defRPr/>
            </a:pPr>
            <a:r>
              <a:rPr sz="1200" b="0" i="0">
                <a:solidFill>
                  <a:srgbClr val="2A2230"/>
                </a:solidFill>
                <a:latin typeface="Consolas"/>
              </a:rPr>
              <a:t>└── nido/                 # ← espacio wiki</a:t>
            </a:r>
            <a:endParaRPr/>
          </a:p>
          <a:p>
            <a:pPr algn="l">
              <a:spcBef>
                <a:spcPts val="0"/>
              </a:spcBef>
              <a:spcAft>
                <a:spcPts val="300"/>
              </a:spcAft>
              <a:defRPr/>
            </a:pPr>
            <a:r>
              <a:rPr sz="1200" b="0" i="0">
                <a:solidFill>
                  <a:srgbClr val="2A2230"/>
                </a:solidFill>
                <a:latin typeface="Consolas"/>
              </a:rPr>
              <a:t>    ├── introduccion.md</a:t>
            </a:r>
            <a:endParaRPr/>
          </a:p>
          <a:p>
            <a:pPr algn="l">
              <a:spcBef>
                <a:spcPts val="0"/>
              </a:spcBef>
              <a:spcAft>
                <a:spcPts val="300"/>
              </a:spcAft>
              <a:defRPr/>
            </a:pPr>
            <a:r>
              <a:rPr sz="1200" b="0" i="0">
                <a:solidFill>
                  <a:srgbClr val="2A2230"/>
                </a:solidFill>
                <a:latin typeface="Consolas"/>
              </a:rPr>
              <a:t>    ├── arquitectura/</a:t>
            </a:r>
            <a:endParaRPr/>
          </a:p>
          <a:p>
            <a:pPr algn="l">
              <a:spcBef>
                <a:spcPts val="0"/>
              </a:spcBef>
              <a:spcAft>
                <a:spcPts val="300"/>
              </a:spcAft>
              <a:defRPr/>
            </a:pPr>
            <a:r>
              <a:rPr sz="1200" b="0" i="0">
                <a:solidFill>
                  <a:srgbClr val="2A2230"/>
                </a:solidFill>
                <a:latin typeface="Consolas"/>
              </a:rPr>
              <a:t>    │   ├── vision-general.md</a:t>
            </a:r>
            <a:endParaRPr/>
          </a:p>
          <a:p>
            <a:pPr algn="l">
              <a:spcBef>
                <a:spcPts val="0"/>
              </a:spcBef>
              <a:spcAft>
                <a:spcPts val="300"/>
              </a:spcAft>
              <a:defRPr/>
            </a:pPr>
            <a:r>
              <a:rPr sz="1200" b="0" i="0">
                <a:solidFill>
                  <a:srgbClr val="2A2230"/>
                </a:solidFill>
                <a:latin typeface="Consolas"/>
              </a:rPr>
              <a:t>    │   └── base-de-datos.md</a:t>
            </a:r>
            <a:endParaRPr/>
          </a:p>
          <a:p>
            <a:pPr algn="l">
              <a:spcBef>
                <a:spcPts val="0"/>
              </a:spcBef>
              <a:spcAft>
                <a:spcPts val="300"/>
              </a:spcAft>
              <a:defRPr/>
            </a:pPr>
            <a:r>
              <a:rPr sz="1200" b="0" i="0">
                <a:solidFill>
                  <a:srgbClr val="2A2230"/>
                </a:solidFill>
                <a:latin typeface="Consolas"/>
              </a:rPr>
              <a:t>    └── guia-de-uso.md</a:t>
            </a:r>
            <a:endParaRPr/>
          </a:p>
        </p:txBody>
      </p:sp>
      <p:sp>
        <p:nvSpPr>
          <p:cNvPr id="1122829436" name="Rounded Rectangle 8"/>
          <p:cNvSpPr/>
          <p:nvPr/>
        </p:nvSpPr>
        <p:spPr bwMode="auto">
          <a:xfrm>
            <a:off x="6720840" y="1508759"/>
            <a:ext cx="46177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4201089" name="Oval 9"/>
          <p:cNvSpPr/>
          <p:nvPr/>
        </p:nvSpPr>
        <p:spPr bwMode="auto">
          <a:xfrm>
            <a:off x="6922007" y="1673351"/>
            <a:ext cx="146304" cy="14630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8317584" name="TextBox 10"/>
          <p:cNvSpPr txBox="1"/>
          <p:nvPr/>
        </p:nvSpPr>
        <p:spPr bwMode="auto">
          <a:xfrm>
            <a:off x="6949440" y="1920240"/>
            <a:ext cx="4160519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/>
            </a:pPr>
            <a:r>
              <a:rPr sz="1550" b="1" i="0">
                <a:solidFill>
                  <a:srgbClr val="2A2230"/>
                </a:solidFill>
                <a:latin typeface="Calibri"/>
              </a:rPr>
              <a:t>Propiedades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La wiki es el sistema de ficheros: cada página es un .md (Git, portable).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Bidireccional: editar en disco actualiza la wiki y viceversa.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Documentos anidados (nested docs) sin límite de nivel.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Hereda las ACL de la carpeta: mismos usuarios y grupos.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Varios Nidos por carpeta (ingeniería, negocio…).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0960744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9314166" name="Oval 2"/>
          <p:cNvSpPr/>
          <p:nvPr/>
        </p:nvSpPr>
        <p:spPr bwMode="auto">
          <a:xfrm>
            <a:off x="11155680" y="-1097280"/>
            <a:ext cx="2926080" cy="2926080"/>
          </a:xfrm>
          <a:prstGeom prst="ellipse">
            <a:avLst/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4912311" name="Oval 3"/>
          <p:cNvSpPr/>
          <p:nvPr/>
        </p:nvSpPr>
        <p:spPr bwMode="auto">
          <a:xfrm>
            <a:off x="-1005840" y="5760720"/>
            <a:ext cx="2377440" cy="2377440"/>
          </a:xfrm>
          <a:prstGeom prst="ellipse">
            <a:avLst/>
          </a:prstGeom>
          <a:solidFill>
            <a:srgbClr val="FB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5952553" name="Rectangle 4"/>
          <p:cNvSpPr/>
          <p:nvPr/>
        </p:nvSpPr>
        <p:spPr bwMode="auto">
          <a:xfrm>
            <a:off x="822960" y="932688"/>
            <a:ext cx="457200" cy="82296"/>
          </a:xfrm>
          <a:prstGeom prst="rect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5548940" name="TextBox 5"/>
          <p:cNvSpPr txBox="1"/>
          <p:nvPr/>
        </p:nvSpPr>
        <p:spPr bwMode="auto">
          <a:xfrm>
            <a:off x="822960" y="38404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/>
            </a:pPr>
            <a:r>
              <a:rPr sz="2500" b="1" i="0">
                <a:solidFill>
                  <a:srgbClr val="2A2230"/>
                </a:solidFill>
                <a:latin typeface="Calibri"/>
              </a:rPr>
              <a:t>Fast Access — carpetas en RAM (in-memory)</a:t>
            </a:r>
            <a:endParaRPr/>
          </a:p>
        </p:txBody>
      </p:sp>
      <p:sp>
        <p:nvSpPr>
          <p:cNvPr id="1764279429" name="TextBox 6"/>
          <p:cNvSpPr txBox="1"/>
          <p:nvPr/>
        </p:nvSpPr>
        <p:spPr bwMode="auto">
          <a:xfrm>
            <a:off x="10607040" y="4114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/>
            </a:pPr>
            <a:r>
              <a:rPr sz="1800" b="1" i="0">
                <a:solidFill>
                  <a:srgbClr val="6C4BD1"/>
                </a:solidFill>
                <a:latin typeface="Calibri"/>
              </a:rPr>
              <a:t>14</a:t>
            </a:r>
            <a:endParaRPr/>
          </a:p>
        </p:txBody>
      </p:sp>
      <p:sp>
        <p:nvSpPr>
          <p:cNvPr id="381301042" name="TextBox 7"/>
          <p:cNvSpPr txBox="1"/>
          <p:nvPr/>
        </p:nvSpPr>
        <p:spPr bwMode="auto"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sz="1400" b="0" i="0">
                <a:solidFill>
                  <a:srgbClr val="2A2230"/>
                </a:solidFill>
                <a:latin typeface="Calibri"/>
              </a:rPr>
              <a:t>✦  Idea tomada de las bases de datos in-memory (como SAP HANA, visto en Bases de Datos): los datos viven en RAM y el disco hace de respaldo.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sz="1400" b="0" i="0">
                <a:solidFill>
                  <a:srgbClr val="2A2230"/>
                </a:solidFill>
                <a:latin typeface="Calibri"/>
              </a:rPr>
              <a:t>✦  El usuario, según permisos y cuota, marca carpeta/archivo para residir en RAM mientras el servidor esté encendido.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sz="1400" b="0" i="0">
                <a:solidFill>
                  <a:srgbClr val="2A2230"/>
                </a:solidFill>
                <a:latin typeface="Calibri"/>
              </a:rPr>
              <a:t>✦  Cada escritura va a un diario (WAL) + volcado atómico a disco → el disco es la fuente de verdad. Cero pérdida.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sz="1400" b="0" i="0">
                <a:solidFill>
                  <a:srgbClr val="2A2230"/>
                </a:solidFill>
                <a:latin typeface="Calibri"/>
              </a:rPr>
              <a:t>✦  Si la RAM se llena: desalojo LRU → se libera la copia en RAM, el dato sigue en disco.</a:t>
            </a:r>
            <a:endParaRPr/>
          </a:p>
        </p:txBody>
      </p:sp>
      <p:graphicFrame>
        <p:nvGraphicFramePr>
          <p:cNvPr id="26787" name="Table 8"/>
          <p:cNvGraphicFramePr>
            <a:graphicFrameLocks xmlns:a="http://schemas.openxmlformats.org/drawingml/2006/main" noGrp="1"/>
          </p:cNvGraphicFramePr>
          <p:nvPr/>
        </p:nvGraphicFramePr>
        <p:xfrm rot="0">
          <a:off x="822960" y="4526280"/>
          <a:ext cx="10515600" cy="164592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615184"/>
                <a:gridCol w="5888736"/>
                <a:gridCol w="2011680"/>
              </a:tblGrid>
              <a:tr h="411480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Modo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6C4BD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Qué hace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6C4BD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Pérdida máxima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6C4BD1"/>
                    </a:solidFill>
                  </a:tcPr>
                </a:tc>
              </a:tr>
              <a:tr h="411480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150" b="0" i="0">
                          <a:solidFill>
                            <a:srgbClr val="2A2230"/>
                          </a:solidFill>
                          <a:latin typeface="Calibri"/>
                        </a:rPr>
                        <a:t>Durable (por defecto)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150" b="0" i="0">
                          <a:solidFill>
                            <a:srgbClr val="2A2230"/>
                          </a:solidFill>
                          <a:latin typeface="Calibri"/>
                        </a:rPr>
                        <a:t>Diario + escritura a disco en cada operación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150" b="0" i="0">
                          <a:solidFill>
                            <a:srgbClr val="2A2230"/>
                          </a:solidFill>
                          <a:latin typeface="Calibri"/>
                        </a:rPr>
                        <a:t>0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150" b="0" i="0">
                          <a:solidFill>
                            <a:srgbClr val="2A2230"/>
                          </a:solidFill>
                          <a:latin typeface="Calibri"/>
                        </a:rPr>
                        <a:t>Equilibrado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3EFFB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150" b="0" i="0">
                          <a:solidFill>
                            <a:srgbClr val="2A2230"/>
                          </a:solidFill>
                          <a:latin typeface="Calibri"/>
                        </a:rPr>
                        <a:t>Diario en RAM por lotes muy cortos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3EFFB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150" b="0" i="0">
                          <a:solidFill>
                            <a:srgbClr val="2A2230"/>
                          </a:solidFill>
                          <a:latin typeface="Calibri"/>
                        </a:rPr>
                        <a:t>Casi 0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3EFFB"/>
                    </a:solidFill>
                  </a:tcPr>
                </a:tc>
              </a:tr>
              <a:tr h="411480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150" b="0" i="0">
                          <a:solidFill>
                            <a:srgbClr val="2A2230"/>
                          </a:solidFill>
                          <a:latin typeface="Calibri"/>
                        </a:rPr>
                        <a:t>Volátil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150" b="0" i="0">
                          <a:solidFill>
                            <a:srgbClr val="2A2230"/>
                          </a:solidFill>
                          <a:latin typeface="Calibri"/>
                        </a:rPr>
                        <a:t>Solo caché, para datos temporales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150" b="0" i="0">
                          <a:solidFill>
                            <a:srgbClr val="2A2230"/>
                          </a:solidFill>
                          <a:latin typeface="Calibri"/>
                        </a:rPr>
                        <a:t>Lo no guardado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326195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3862597" name="Oval 2"/>
          <p:cNvSpPr/>
          <p:nvPr/>
        </p:nvSpPr>
        <p:spPr bwMode="auto">
          <a:xfrm>
            <a:off x="11155680" y="-1097280"/>
            <a:ext cx="2926080" cy="2926080"/>
          </a:xfrm>
          <a:prstGeom prst="ellipse">
            <a:avLst/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5820325" name="Oval 3"/>
          <p:cNvSpPr/>
          <p:nvPr/>
        </p:nvSpPr>
        <p:spPr bwMode="auto">
          <a:xfrm>
            <a:off x="-1005840" y="5760720"/>
            <a:ext cx="2377440" cy="2377440"/>
          </a:xfrm>
          <a:prstGeom prst="ellipse">
            <a:avLst/>
          </a:prstGeom>
          <a:solidFill>
            <a:srgbClr val="FB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6092280" name="Rectangle 4"/>
          <p:cNvSpPr/>
          <p:nvPr/>
        </p:nvSpPr>
        <p:spPr bwMode="auto">
          <a:xfrm>
            <a:off x="822960" y="932688"/>
            <a:ext cx="457200" cy="82296"/>
          </a:xfrm>
          <a:prstGeom prst="rect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8209299" name="TextBox 5"/>
          <p:cNvSpPr txBox="1"/>
          <p:nvPr/>
        </p:nvSpPr>
        <p:spPr bwMode="auto">
          <a:xfrm>
            <a:off x="822960" y="38404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/>
            </a:pPr>
            <a:r>
              <a:rPr sz="2500" b="1" i="0">
                <a:solidFill>
                  <a:srgbClr val="2A2230"/>
                </a:solidFill>
                <a:latin typeface="Calibri"/>
              </a:rPr>
              <a:t>Adiciones: diagramas y visor HTML</a:t>
            </a:r>
            <a:endParaRPr/>
          </a:p>
        </p:txBody>
      </p:sp>
      <p:sp>
        <p:nvSpPr>
          <p:cNvPr id="1563794420" name="TextBox 6"/>
          <p:cNvSpPr txBox="1"/>
          <p:nvPr/>
        </p:nvSpPr>
        <p:spPr bwMode="auto">
          <a:xfrm>
            <a:off x="10607040" y="4114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/>
            </a:pPr>
            <a:r>
              <a:rPr sz="1800" b="1" i="0">
                <a:solidFill>
                  <a:srgbClr val="6C4BD1"/>
                </a:solidFill>
                <a:latin typeface="Calibri"/>
              </a:rPr>
              <a:t>15</a:t>
            </a:r>
            <a:endParaRPr/>
          </a:p>
        </p:txBody>
      </p:sp>
      <p:sp>
        <p:nvSpPr>
          <p:cNvPr id="1197590888" name="Rounded Rectangle 7"/>
          <p:cNvSpPr/>
          <p:nvPr/>
        </p:nvSpPr>
        <p:spPr bwMode="auto">
          <a:xfrm>
            <a:off x="822960" y="1508759"/>
            <a:ext cx="51206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5223664" name="Oval 8"/>
          <p:cNvSpPr/>
          <p:nvPr/>
        </p:nvSpPr>
        <p:spPr bwMode="auto">
          <a:xfrm>
            <a:off x="1024128" y="1673351"/>
            <a:ext cx="146304" cy="146304"/>
          </a:xfrm>
          <a:prstGeom prst="ellipse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534023" name="TextBox 9"/>
          <p:cNvSpPr txBox="1"/>
          <p:nvPr/>
        </p:nvSpPr>
        <p:spPr bwMode="auto">
          <a:xfrm>
            <a:off x="1051560" y="1892807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/>
            </a:pPr>
            <a:r>
              <a:rPr sz="1550" b="1" i="0">
                <a:solidFill>
                  <a:srgbClr val="2A2230"/>
                </a:solidFill>
                <a:latin typeface="Calibri"/>
              </a:rPr>
              <a:t>Diagramas integrados (tipo draw.io)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Crea y edita diagramas de flujo, arquitectura o UML dentro de Kortex.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Se guardan como un archivo del proyecto, junto al resto de archivos.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Enlazables desde una página de un Nido (como una imagen viva).</a:t>
            </a:r>
            <a:endParaRPr/>
          </a:p>
        </p:txBody>
      </p:sp>
      <p:sp>
        <p:nvSpPr>
          <p:cNvPr id="497925007" name="Rounded Rectangle 10"/>
          <p:cNvSpPr/>
          <p:nvPr/>
        </p:nvSpPr>
        <p:spPr bwMode="auto">
          <a:xfrm>
            <a:off x="6217920" y="1508759"/>
            <a:ext cx="512064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7925084" name="Oval 11"/>
          <p:cNvSpPr/>
          <p:nvPr/>
        </p:nvSpPr>
        <p:spPr bwMode="auto">
          <a:xfrm>
            <a:off x="6419088" y="1673351"/>
            <a:ext cx="146304" cy="14630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8715778" name="TextBox 12"/>
          <p:cNvSpPr txBox="1"/>
          <p:nvPr/>
        </p:nvSpPr>
        <p:spPr bwMode="auto">
          <a:xfrm>
            <a:off x="6446520" y="1892807"/>
            <a:ext cx="4663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/>
            </a:pPr>
            <a:r>
              <a:rPr sz="1550" b="1" i="0">
                <a:solidFill>
                  <a:srgbClr val="2A2230"/>
                </a:solidFill>
                <a:latin typeface="Calibri"/>
              </a:rPr>
              <a:t>Editor de HTML/CSS con visor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Editas el código y ves el resultado en vivo.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Vista dividida: código a la izquierda, previsualización a la derecha.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Autoguardado: cada guardado refresca el visor al instante.</a:t>
            </a:r>
            <a:endParaRPr/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50" b="0" i="0">
                <a:solidFill>
                  <a:srgbClr val="2A2230"/>
                </a:solidFill>
                <a:latin typeface="Calibri"/>
              </a:rPr>
              <a:t>• Modo presentar: el HTML ocupa toda la pantalla.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796444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5748102" name="Oval 2"/>
          <p:cNvSpPr/>
          <p:nvPr/>
        </p:nvSpPr>
        <p:spPr bwMode="auto">
          <a:xfrm>
            <a:off x="11155680" y="-1097280"/>
            <a:ext cx="2926080" cy="2926080"/>
          </a:xfrm>
          <a:prstGeom prst="ellipse">
            <a:avLst/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5892758" name="Oval 3"/>
          <p:cNvSpPr/>
          <p:nvPr/>
        </p:nvSpPr>
        <p:spPr bwMode="auto">
          <a:xfrm>
            <a:off x="-1005840" y="5760720"/>
            <a:ext cx="2377440" cy="2377440"/>
          </a:xfrm>
          <a:prstGeom prst="ellipse">
            <a:avLst/>
          </a:prstGeom>
          <a:solidFill>
            <a:srgbClr val="FB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5877862" name="Rectangle 4"/>
          <p:cNvSpPr/>
          <p:nvPr/>
        </p:nvSpPr>
        <p:spPr bwMode="auto">
          <a:xfrm>
            <a:off x="822960" y="932688"/>
            <a:ext cx="457200" cy="82296"/>
          </a:xfrm>
          <a:prstGeom prst="rect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9216008" name="TextBox 5"/>
          <p:cNvSpPr txBox="1"/>
          <p:nvPr/>
        </p:nvSpPr>
        <p:spPr bwMode="auto">
          <a:xfrm>
            <a:off x="822960" y="38404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/>
            </a:pPr>
            <a:r>
              <a:rPr sz="2500" b="1" i="0">
                <a:solidFill>
                  <a:srgbClr val="2A2230"/>
                </a:solidFill>
                <a:latin typeface="Calibri"/>
              </a:rPr>
              <a:t>Fases del desarrollo aplicadas</a:t>
            </a:r>
            <a:endParaRPr/>
          </a:p>
        </p:txBody>
      </p:sp>
      <p:sp>
        <p:nvSpPr>
          <p:cNvPr id="1757919234" name="TextBox 6"/>
          <p:cNvSpPr txBox="1"/>
          <p:nvPr/>
        </p:nvSpPr>
        <p:spPr bwMode="auto">
          <a:xfrm>
            <a:off x="10607040" y="4114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/>
            </a:pPr>
            <a:r>
              <a:rPr sz="1800" b="1" i="0">
                <a:solidFill>
                  <a:srgbClr val="6C4BD1"/>
                </a:solidFill>
                <a:latin typeface="Calibri"/>
              </a:rPr>
              <a:t>16</a:t>
            </a:r>
            <a:endParaRPr/>
          </a:p>
        </p:txBody>
      </p:sp>
      <p:graphicFrame>
        <p:nvGraphicFramePr>
          <p:cNvPr id="2120540547" name="Table 7"/>
          <p:cNvGraphicFramePr>
            <a:graphicFrameLocks xmlns:a="http://schemas.openxmlformats.org/drawingml/2006/main" noGrp="1"/>
          </p:cNvGraphicFramePr>
          <p:nvPr/>
        </p:nvGraphicFramePr>
        <p:xfrm rot="0">
          <a:off x="822960" y="1371600"/>
          <a:ext cx="10515600" cy="457200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666744"/>
                <a:gridCol w="6848856"/>
              </a:tblGrid>
              <a:tr h="653142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Fase (Tema 2)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6C4BD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Aplicación en Kortex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6C4BD1"/>
                    </a:solidFill>
                  </a:tcPr>
                </a:tc>
              </a:tr>
              <a:tr h="653142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Requisitos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Entrevistas con empresas piloto; este documento es el resultado.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Análisis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3EFFB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Casos de uso y modelo de datos (usuarios, grupos, carpetas, Nidos, páginas).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3EFFB"/>
                    </a:solidFill>
                  </a:tcPr>
                </a:tc>
              </a:tr>
              <a:tr h="653142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Diseño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Web, API REST, SMB/WebDAV, edición, búsqueda, MCP y caché RAM/WAL.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Implementación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3EFFB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Sprints de 2 semanas.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3EFFB"/>
                    </a:solidFill>
                  </a:tcPr>
                </a:tc>
              </a:tr>
              <a:tr h="653142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Pruebas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Unitarias, integración, permisos heredados, carga y durabilidad (corte de luz).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Documentación / Explotación / Mantenimiento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3EFFB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defRPr/>
                      </a:pPr>
                      <a:r>
                        <a:rPr sz="1200" b="0" i="0">
                          <a:solidFill>
                            <a:srgbClr val="2A2230"/>
                          </a:solidFill>
                          <a:latin typeface="Calibri"/>
                        </a:rPr>
                        <a:t>Guías, referencia de CLI y API MCP; 1.0 y evolutivos.</a:t>
                      </a:r>
                      <a:endParaRPr/>
                    </a:p>
                  </a:txBody>
                  <a:tcPr marL="73152" marR="45720" marT="18288" marB="18288" anchor="ctr">
                    <a:solidFill>
                      <a:srgbClr val="F3EF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020154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8918516" name="Oval 2"/>
          <p:cNvSpPr/>
          <p:nvPr/>
        </p:nvSpPr>
        <p:spPr bwMode="auto">
          <a:xfrm>
            <a:off x="11155680" y="-1097280"/>
            <a:ext cx="2926080" cy="2926080"/>
          </a:xfrm>
          <a:prstGeom prst="ellipse">
            <a:avLst/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1481082" name="Oval 3"/>
          <p:cNvSpPr/>
          <p:nvPr/>
        </p:nvSpPr>
        <p:spPr bwMode="auto">
          <a:xfrm>
            <a:off x="-1005840" y="5760720"/>
            <a:ext cx="2377440" cy="2377440"/>
          </a:xfrm>
          <a:prstGeom prst="ellipse">
            <a:avLst/>
          </a:prstGeom>
          <a:solidFill>
            <a:srgbClr val="FB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9973300" name="Rectangle 4"/>
          <p:cNvSpPr/>
          <p:nvPr/>
        </p:nvSpPr>
        <p:spPr bwMode="auto">
          <a:xfrm>
            <a:off x="822960" y="932688"/>
            <a:ext cx="457200" cy="82296"/>
          </a:xfrm>
          <a:prstGeom prst="rect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6960638" name="TextBox 5"/>
          <p:cNvSpPr txBox="1"/>
          <p:nvPr/>
        </p:nvSpPr>
        <p:spPr bwMode="auto">
          <a:xfrm>
            <a:off x="822960" y="38404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/>
            </a:pPr>
            <a:r>
              <a:rPr sz="2500" b="1" i="0">
                <a:solidFill>
                  <a:srgbClr val="2A2230"/>
                </a:solidFill>
                <a:latin typeface="Calibri"/>
              </a:rPr>
              <a:t>Casos de uso principales (UML)</a:t>
            </a:r>
            <a:endParaRPr/>
          </a:p>
        </p:txBody>
      </p:sp>
      <p:sp>
        <p:nvSpPr>
          <p:cNvPr id="2080341765" name="TextBox 6"/>
          <p:cNvSpPr txBox="1"/>
          <p:nvPr/>
        </p:nvSpPr>
        <p:spPr bwMode="auto">
          <a:xfrm>
            <a:off x="10607040" y="4114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/>
            </a:pPr>
            <a:r>
              <a:rPr sz="1800" b="1" i="0">
                <a:solidFill>
                  <a:srgbClr val="6C4BD1"/>
                </a:solidFill>
                <a:latin typeface="Calibri"/>
              </a:rPr>
              <a:t>17</a:t>
            </a:r>
            <a:endParaRPr/>
          </a:p>
        </p:txBody>
      </p:sp>
      <p:sp>
        <p:nvSpPr>
          <p:cNvPr id="295790467" name="TextBox 7"/>
          <p:cNvSpPr txBox="1"/>
          <p:nvPr/>
        </p:nvSpPr>
        <p:spPr bwMode="auto"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50"/>
              </a:spcAft>
              <a:defRPr/>
            </a:pPr>
            <a:r>
              <a:rPr sz="1500" b="0" i="0">
                <a:solidFill>
                  <a:srgbClr val="2A2230"/>
                </a:solidFill>
                <a:latin typeface="Calibri"/>
              </a:rPr>
              <a:t>✦  CU1  Publicar una página desde la CLI   ·   Integrador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50"/>
              </a:spcAft>
              <a:defRPr/>
            </a:pPr>
            <a:r>
              <a:rPr sz="1500" b="0" i="0">
                <a:solidFill>
                  <a:srgbClr val="2A2230"/>
                </a:solidFill>
                <a:latin typeface="Calibri"/>
              </a:rPr>
              <a:t>✦  CU2  Editar un documento ofimático en tiempo real   ·   Editor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50"/>
              </a:spcAft>
              <a:defRPr/>
            </a:pPr>
            <a:r>
              <a:rPr sz="1500" b="0" i="0">
                <a:solidFill>
                  <a:srgbClr val="2A2230"/>
                </a:solidFill>
                <a:latin typeface="Calibri"/>
              </a:rPr>
              <a:t>✦  CU3  Buscar documentación en archivos y Nidos   ·   Editor / Lector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50"/>
              </a:spcAft>
              <a:defRPr/>
            </a:pPr>
            <a:r>
              <a:rPr sz="1500" b="0" i="0">
                <a:solidFill>
                  <a:srgbClr val="2A2230"/>
                </a:solidFill>
                <a:latin typeface="Calibri"/>
              </a:rPr>
              <a:t>✦  CU4  Redactar y publicar un acta automáticamente   ·   Agente IA (MCP)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50"/>
              </a:spcAft>
              <a:defRPr/>
            </a:pPr>
            <a:r>
              <a:rPr sz="1500" b="0" i="0">
                <a:solidFill>
                  <a:srgbClr val="2A2230"/>
                </a:solidFill>
                <a:latin typeface="Calibri"/>
              </a:rPr>
              <a:t>✦  CU5  Gestionar usuarios y permisos (grupos/ACL)   ·   Administrador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50"/>
              </a:spcAft>
              <a:defRPr/>
            </a:pPr>
            <a:r>
              <a:rPr sz="1500" b="0" i="0">
                <a:solidFill>
                  <a:srgbClr val="2A2230"/>
                </a:solidFill>
                <a:latin typeface="Calibri"/>
              </a:rPr>
              <a:t>✦  CU6  Montar la carpeta como unidad de red   ·   Editor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50"/>
              </a:spcAft>
              <a:defRPr/>
            </a:pPr>
            <a:r>
              <a:rPr sz="1500" b="0" i="0">
                <a:solidFill>
                  <a:srgbClr val="2A2230"/>
                </a:solidFill>
                <a:latin typeface="Calibri"/>
              </a:rPr>
              <a:t>✦  CU7  Crear un Nido dentro de una carpeta   ·   Editor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50"/>
              </a:spcAft>
              <a:defRPr/>
            </a:pPr>
            <a:r>
              <a:rPr sz="1500" b="0" i="0">
                <a:solidFill>
                  <a:srgbClr val="2A2230"/>
                </a:solidFill>
                <a:latin typeface="Calibri"/>
              </a:rPr>
              <a:t>✦  CU8  Activar Fast Access en una carpeta   ·   Editor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50"/>
              </a:spcAft>
              <a:defRPr/>
            </a:pPr>
            <a:r>
              <a:rPr sz="1500" b="0" i="0">
                <a:solidFill>
                  <a:srgbClr val="2A2230"/>
                </a:solidFill>
                <a:latin typeface="Calibri"/>
              </a:rPr>
              <a:t>✦  CU9  Restaurar una versión anterior   ·   Editor / Administrador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50"/>
              </a:spcAft>
              <a:defRPr/>
            </a:pPr>
            <a:r>
              <a:rPr sz="1500" b="0" i="0">
                <a:solidFill>
                  <a:srgbClr val="2A2230"/>
                </a:solidFill>
                <a:latin typeface="Calibri"/>
              </a:rPr>
              <a:t>✦  CU10  Definir cuotas de RAM y política de durabilidad   ·   Administrador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043927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3176114" name="Oval 2"/>
          <p:cNvSpPr/>
          <p:nvPr/>
        </p:nvSpPr>
        <p:spPr bwMode="auto">
          <a:xfrm>
            <a:off x="11155680" y="-1097280"/>
            <a:ext cx="2926080" cy="2926080"/>
          </a:xfrm>
          <a:prstGeom prst="ellipse">
            <a:avLst/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0431191" name="Oval 3"/>
          <p:cNvSpPr/>
          <p:nvPr/>
        </p:nvSpPr>
        <p:spPr bwMode="auto">
          <a:xfrm>
            <a:off x="-1005840" y="5760720"/>
            <a:ext cx="2377440" cy="2377440"/>
          </a:xfrm>
          <a:prstGeom prst="ellipse">
            <a:avLst/>
          </a:prstGeom>
          <a:solidFill>
            <a:srgbClr val="FB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1110272" name="Rectangle 4"/>
          <p:cNvSpPr/>
          <p:nvPr/>
        </p:nvSpPr>
        <p:spPr bwMode="auto">
          <a:xfrm>
            <a:off x="822960" y="932688"/>
            <a:ext cx="457200" cy="82296"/>
          </a:xfrm>
          <a:prstGeom prst="rect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8767034" name="TextBox 5"/>
          <p:cNvSpPr txBox="1"/>
          <p:nvPr/>
        </p:nvSpPr>
        <p:spPr bwMode="auto">
          <a:xfrm>
            <a:off x="822960" y="384048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/>
            </a:pPr>
            <a:r>
              <a:rPr sz="2500" b="1" i="0">
                <a:solidFill>
                  <a:srgbClr val="2A2230"/>
                </a:solidFill>
                <a:latin typeface="Calibri"/>
              </a:rPr>
              <a:t>Conclusión</a:t>
            </a:r>
            <a:endParaRPr/>
          </a:p>
        </p:txBody>
      </p:sp>
      <p:sp>
        <p:nvSpPr>
          <p:cNvPr id="55919455" name="TextBox 6"/>
          <p:cNvSpPr txBox="1"/>
          <p:nvPr/>
        </p:nvSpPr>
        <p:spPr bwMode="auto">
          <a:xfrm>
            <a:off x="10607040" y="4114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/>
            </a:pPr>
            <a:r>
              <a:rPr sz="1800" b="1" i="0">
                <a:solidFill>
                  <a:srgbClr val="6C4BD1"/>
                </a:solidFill>
                <a:latin typeface="Calibri"/>
              </a:rPr>
              <a:t>18</a:t>
            </a:r>
            <a:endParaRPr/>
          </a:p>
        </p:txBody>
      </p:sp>
      <p:sp>
        <p:nvSpPr>
          <p:cNvPr id="1161210792" name="TextBox 7"/>
          <p:cNvSpPr txBox="1"/>
          <p:nvPr/>
        </p:nvSpPr>
        <p:spPr bwMode="auto"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defRPr/>
            </a:pPr>
            <a:r>
              <a:rPr sz="1750" b="0" i="0">
                <a:solidFill>
                  <a:srgbClr val="2A2230"/>
                </a:solidFill>
                <a:latin typeface="Calibri"/>
              </a:rPr>
              <a:t>✦  Kortex parte de una toma de requisitos real, se analiza con casos de uso y se diseña antes de programar: ingeniería del software aplicada de principio a fin.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defRPr/>
            </a:pPr>
            <a:r>
              <a:rPr sz="1750" b="0" i="0">
                <a:solidFill>
                  <a:srgbClr val="2A2230"/>
                </a:solidFill>
                <a:latin typeface="Calibri"/>
              </a:rPr>
              <a:t>✦  Se desarrolla con Scrum y un ciclo en espiral, asignando roles concretos al equipo.</a:t>
            </a:r>
            <a:endParaRPr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defRPr/>
            </a:pPr>
            <a:r>
              <a:rPr sz="1750" b="0" i="0">
                <a:solidFill>
                  <a:srgbClr val="2A2230"/>
                </a:solidFill>
                <a:latin typeface="Calibri"/>
              </a:rPr>
              <a:t>✦  Propuesta de valor: wiki + ofimática + almacén seguro + carpetas en RAM, bajo una sola carpeta y una sola identidad.</a:t>
            </a:r>
            <a:endParaRPr/>
          </a:p>
        </p:txBody>
      </p:sp>
      <p:sp>
        <p:nvSpPr>
          <p:cNvPr id="1577112011" name="Rounded Rectangle 8"/>
          <p:cNvSpPr/>
          <p:nvPr/>
        </p:nvSpPr>
        <p:spPr bwMode="auto">
          <a:xfrm>
            <a:off x="822960" y="5623560"/>
            <a:ext cx="10515600" cy="731520"/>
          </a:xfrm>
          <a:prstGeom prst="roundRect">
            <a:avLst>
              <a:gd name="adj" fmla="val 16000"/>
            </a:avLst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6513749" name="TextBox 9"/>
          <p:cNvSpPr txBox="1"/>
          <p:nvPr/>
        </p:nvSpPr>
        <p:spPr bwMode="auto">
          <a:xfrm>
            <a:off x="1051560" y="573328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/>
            </a:pPr>
            <a:r>
              <a:rPr sz="1400" b="1" i="1">
                <a:solidFill>
                  <a:srgbClr val="6C4BD1"/>
                </a:solidFill>
                <a:latin typeface="Calibri"/>
              </a:rPr>
              <a:t>Kortex: una idea realista, planificada con la ingeniería del software del Tema 2.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006498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7868133" name="Oval 2"/>
          <p:cNvSpPr/>
          <p:nvPr/>
        </p:nvSpPr>
        <p:spPr bwMode="auto">
          <a:xfrm>
            <a:off x="9601200" y="-1097280"/>
            <a:ext cx="4023360" cy="4023360"/>
          </a:xfrm>
          <a:prstGeom prst="ellipse">
            <a:avLst/>
          </a:prstGeom>
          <a:solidFill>
            <a:srgbClr val="EC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0136213" name="Oval 3"/>
          <p:cNvSpPr/>
          <p:nvPr/>
        </p:nvSpPr>
        <p:spPr bwMode="auto">
          <a:xfrm>
            <a:off x="-1280160" y="4206240"/>
            <a:ext cx="3657600" cy="3657600"/>
          </a:xfrm>
          <a:prstGeom prst="ellipse">
            <a:avLst/>
          </a:prstGeom>
          <a:solidFill>
            <a:srgbClr val="FB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0928259" name="TextBox 4"/>
          <p:cNvSpPr txBox="1"/>
          <p:nvPr/>
        </p:nvSpPr>
        <p:spPr bwMode="auto">
          <a:xfrm>
            <a:off x="1097280" y="201168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/>
            </a:pPr>
            <a:r>
              <a:rPr sz="5200" b="1" i="0">
                <a:solidFill>
                  <a:srgbClr val="2A2230"/>
                </a:solidFill>
                <a:latin typeface="Calibri"/>
              </a:rPr>
              <a:t>Gracias</a:t>
            </a:r>
            <a:endParaRPr/>
          </a:p>
        </p:txBody>
      </p:sp>
      <p:sp>
        <p:nvSpPr>
          <p:cNvPr id="1043141221" name="TextBox 5"/>
          <p:cNvSpPr txBox="1"/>
          <p:nvPr/>
        </p:nvSpPr>
        <p:spPr bwMode="auto">
          <a:xfrm>
            <a:off x="1097280" y="3657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/>
            </a:pPr>
            <a:r>
              <a:rPr sz="2600" b="0" i="0">
                <a:solidFill>
                  <a:srgbClr val="6C4BD1"/>
                </a:solidFill>
                <a:latin typeface="Calibri"/>
              </a:rPr>
              <a:t>¿Preguntas?</a:t>
            </a:r>
            <a:endParaRPr/>
          </a:p>
          <a:p>
            <a:pPr algn="ctr">
              <a:spcBef>
                <a:spcPts val="0"/>
              </a:spcBef>
              <a:spcAft>
                <a:spcPts val="400"/>
              </a:spcAft>
              <a:defRPr/>
            </a:pPr>
            <a:r>
              <a:rPr sz="1500" b="0" i="0">
                <a:solidFill>
                  <a:srgbClr val="7A6E80"/>
                </a:solidFill>
                <a:latin typeface="Calibri"/>
              </a:rPr>
              <a:t>Kortex — Actividad 2 · Entornos de Desarrollo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20</Slides>
  <Notes>20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Zia Administrator</cp:lastModifiedBy>
  <cp:revision>2</cp:revision>
  <dcterms:created xsi:type="dcterms:W3CDTF">2013-01-27T09:14:16Z</dcterms:created>
  <dcterms:modified xsi:type="dcterms:W3CDTF">2026-10-06T21:54:06Z</dcterms:modified>
  <cp:category/>
</cp:coreProperties>
</file>